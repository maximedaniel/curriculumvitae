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00"/>
    <a:srgbClr val="00FF00"/>
    <a:srgbClr val="0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476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22EC6-26C4-D7E4-A3F3-77A61CFAF5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822C27-E2D3-3A9B-E537-78B18D90C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BAF68-BFC1-DFEE-BCC8-D8122E696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F5C45-C04A-4C46-D05E-8FE173B97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60336-61CA-9DA7-F2A9-FE32EF91A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0463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51A1-15BC-DBF8-A613-6EAAC60D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FA009-A8FC-C937-157E-EC30C2B0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04E89-4A19-B4A6-99BF-A97699E79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0183E-6B50-BB22-393E-7868BE415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71083-0088-DBE8-DB21-C78C1A502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190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6ED6-44AD-1623-F258-BF03F5A66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3AB60-223C-CA06-887B-76EB41245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38A02-2134-BF64-5B69-90F62F86D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96A4C-5847-D7F4-56AF-D393036F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C3E1E-D47C-27B6-EE8A-D5391407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698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CAEFC-FB5A-E042-F0D2-41A4BC78A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E576E-151F-E8ED-51FE-5B992E84F1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3D6BD-FDF7-1976-4024-09779D7EFB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EC6B7-0E0A-AB6B-C365-B5C228E0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66C5D-8F18-8C6D-6A32-1E7F63BE1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DF655-EEB2-385B-F02E-50D48C830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9413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B6B70-AA1C-0D43-59BE-C90AEE4AD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9F4FC-9AA2-A263-32D3-FB300A71B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315B8-51DA-24C3-D0CB-7813B4696D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516A43-3042-822F-D3AE-0B50E9F9A4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FFAFA-2200-F3F8-7765-0487C401F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444678-E451-FC94-D23B-6112561C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A5F66-FF48-ABC5-81C7-B3979867F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3FDAF7-1F1C-C00E-5AD3-74CCB7C07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928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4A64B-DBAB-2CC0-A7CC-462ECE02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1CD53D-56F3-20F6-A6E3-3306C907E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1EE2-E00D-9B60-D0B5-74BC486B7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97A820-8C5E-AD7D-BC6C-F977864D8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3485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7CB19-F2AE-7378-2582-CCEE6E035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1BE837-4547-F039-10EA-BF24889F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FB7BD-C5D7-D7D7-55F2-FEFB73F96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0034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E87C-BBB0-CC1B-FCB3-323AE3EA5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0658-40FA-D903-8BF7-A9569FBF6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75F28D-564B-81AA-8EA8-3A6FC65BC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C4B1A-3481-4B85-0C93-72C13954D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4AE585-EE2E-4DE5-ADA1-6E202FF3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18CFB-5678-C6B9-4C4F-EA8E6D14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1183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378B2-7C91-FC35-3679-E905166E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52A35-35AD-928A-9C7C-2B3B18C89F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02D4B-C2FA-99F6-AD19-97C4138D4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7AB0C-72D7-667D-F0C4-F6331D9E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8F7B4-28B7-6F7E-36C9-1BEFBCA5F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3ABF4-C576-1F36-004F-653C7E722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302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8709-45F7-AE42-0AEC-DF4C267D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812765-67BA-135D-F0FA-B7F7AF96F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66E1E-AEB4-EEAD-99F8-AAE432B6D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17299-7A75-6F6C-F7A5-E6907D5DC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30662-F762-259D-00C1-FA7357816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1354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F5812D-EE0B-B82D-0A54-6E2E77B63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E5C3A0-DEBB-1175-8682-8025FB649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4C600-C798-10EB-EF65-27B259F5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17B88-62B2-26EE-CE67-7F82B4521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1988F-D62E-422C-93D0-C4786FD2D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0571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F3C3F8-A402-4BA3-B7BB-E0CE37D6F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91029-916D-F135-F69B-98EFCD896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2C887-F13C-D3CD-5D49-30A4C4E896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72BF6F-7570-416F-9627-E64960631677}" type="datetimeFigureOut">
              <a:rPr lang="en-CA" smtClean="0"/>
              <a:t>2025-11-28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A6EF3-2FBA-F4B8-2955-0CA9E01088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8ACD1-1DDB-83FA-63E0-36DA07B9C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77C21-5873-4F9D-9991-11F1633DFA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4608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6F86F-A80D-D02C-95E5-026ED900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D92DF464-ADD3-8112-6C47-99EFDF591481}"/>
              </a:ext>
            </a:extLst>
          </p:cNvPr>
          <p:cNvGrpSpPr/>
          <p:nvPr/>
        </p:nvGrpSpPr>
        <p:grpSpPr>
          <a:xfrm>
            <a:off x="2381475" y="118259"/>
            <a:ext cx="7429050" cy="6621481"/>
            <a:chOff x="2381475" y="118259"/>
            <a:chExt cx="7429050" cy="66214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C941AC4-6CF6-461A-817E-EA936FA1D799}"/>
                </a:ext>
              </a:extLst>
            </p:cNvPr>
            <p:cNvGrpSpPr/>
            <p:nvPr/>
          </p:nvGrpSpPr>
          <p:grpSpPr>
            <a:xfrm>
              <a:off x="2381475" y="118259"/>
              <a:ext cx="7429050" cy="6621481"/>
              <a:chOff x="2457450" y="1323975"/>
              <a:chExt cx="1538883" cy="13716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4FF2B8D-B4E5-2456-DD7B-87810E18DDB7}"/>
                  </a:ext>
                </a:extLst>
              </p:cNvPr>
              <p:cNvSpPr/>
              <p:nvPr/>
            </p:nvSpPr>
            <p:spPr>
              <a:xfrm>
                <a:off x="2457450" y="1323975"/>
                <a:ext cx="914400" cy="914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5AD7F86-F74F-0E20-B185-64811DE0A296}"/>
                  </a:ext>
                </a:extLst>
              </p:cNvPr>
              <p:cNvSpPr/>
              <p:nvPr/>
            </p:nvSpPr>
            <p:spPr>
              <a:xfrm>
                <a:off x="2769692" y="1781175"/>
                <a:ext cx="914400" cy="914400"/>
              </a:xfrm>
              <a:prstGeom prst="ellipse">
                <a:avLst/>
              </a:prstGeom>
              <a:solidFill>
                <a:schemeClr val="accent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EBEA760-F824-D087-A4AD-0D1E2B6EC00A}"/>
                  </a:ext>
                </a:extLst>
              </p:cNvPr>
              <p:cNvSpPr/>
              <p:nvPr/>
            </p:nvSpPr>
            <p:spPr>
              <a:xfrm>
                <a:off x="3081933" y="1323975"/>
                <a:ext cx="914400" cy="914400"/>
              </a:xfrm>
              <a:prstGeom prst="ellipse">
                <a:avLst/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7FA77FA-BFE3-99F9-4FF6-47A0050160A5}"/>
                </a:ext>
              </a:extLst>
            </p:cNvPr>
            <p:cNvSpPr txBox="1"/>
            <p:nvPr/>
          </p:nvSpPr>
          <p:spPr>
            <a:xfrm>
              <a:off x="4787436" y="2598003"/>
              <a:ext cx="261712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PROGRAMMABLE</a:t>
              </a:r>
            </a:p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MATTER</a:t>
              </a:r>
              <a:endParaRPr lang="en-CA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DF0B14-0799-95D7-15E4-F7359B0D42F4}"/>
                </a:ext>
              </a:extLst>
            </p:cNvPr>
            <p:cNvSpPr txBox="1"/>
            <p:nvPr/>
          </p:nvSpPr>
          <p:spPr>
            <a:xfrm>
              <a:off x="3929028" y="4551629"/>
              <a:ext cx="433394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Human-Computer Interaction</a:t>
              </a:r>
              <a:br>
                <a:rPr lang="fr-FR" sz="2400" b="1" dirty="0">
                  <a:solidFill>
                    <a:schemeClr val="bg1"/>
                  </a:solidFill>
                </a:rPr>
              </a:br>
              <a:r>
                <a:rPr lang="fr-FR" sz="2400" dirty="0">
                  <a:solidFill>
                    <a:schemeClr val="bg1"/>
                  </a:solidFill>
                </a:rPr>
                <a:t>Shape-</a:t>
              </a:r>
              <a:r>
                <a:rPr lang="fr-FR" sz="2400" dirty="0" err="1">
                  <a:solidFill>
                    <a:schemeClr val="bg1"/>
                  </a:solidFill>
                </a:rPr>
                <a:t>Changing</a:t>
              </a:r>
              <a:r>
                <a:rPr lang="fr-FR" sz="2400" dirty="0">
                  <a:solidFill>
                    <a:schemeClr val="bg1"/>
                  </a:solidFill>
                </a:rPr>
                <a:t> Interfaces, …</a:t>
              </a:r>
              <a:endParaRPr lang="en-CA" sz="2400" dirty="0">
                <a:solidFill>
                  <a:schemeClr val="bg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9278D4-1CAF-E0B4-46CB-8884FDB60C19}"/>
                </a:ext>
              </a:extLst>
            </p:cNvPr>
            <p:cNvSpPr txBox="1"/>
            <p:nvPr/>
          </p:nvSpPr>
          <p:spPr>
            <a:xfrm>
              <a:off x="6877643" y="1321196"/>
              <a:ext cx="268676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Material</a:t>
              </a:r>
              <a:r>
                <a:rPr lang="fr-FR" sz="2400" b="1" dirty="0">
                  <a:solidFill>
                    <a:schemeClr val="bg1"/>
                  </a:solidFill>
                </a:rPr>
                <a:t> Sciences</a:t>
              </a:r>
              <a:br>
                <a:rPr lang="fr-FR" sz="2400" b="1" dirty="0">
                  <a:solidFill>
                    <a:schemeClr val="bg1"/>
                  </a:solidFill>
                </a:rPr>
              </a:br>
              <a:r>
                <a:rPr lang="fr-FR" sz="2400" dirty="0" err="1">
                  <a:solidFill>
                    <a:schemeClr val="bg1"/>
                  </a:solidFill>
                </a:rPr>
                <a:t>Metamaterials</a:t>
              </a:r>
              <a:r>
                <a:rPr lang="fr-FR" sz="2400" dirty="0">
                  <a:solidFill>
                    <a:schemeClr val="bg1"/>
                  </a:solidFill>
                </a:rPr>
                <a:t>, …</a:t>
              </a:r>
              <a:endParaRPr lang="en-CA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C8E4C89-517D-2D40-D954-E83A2621D4FF}"/>
                </a:ext>
              </a:extLst>
            </p:cNvPr>
            <p:cNvSpPr txBox="1"/>
            <p:nvPr/>
          </p:nvSpPr>
          <p:spPr>
            <a:xfrm>
              <a:off x="2615239" y="1338927"/>
              <a:ext cx="262757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Robotics</a:t>
              </a:r>
              <a:br>
                <a:rPr lang="fr-FR" sz="2400" b="1" dirty="0">
                  <a:solidFill>
                    <a:schemeClr val="bg1"/>
                  </a:solidFill>
                </a:rPr>
              </a:br>
              <a:r>
                <a:rPr lang="fr-FR" sz="2400" dirty="0">
                  <a:solidFill>
                    <a:schemeClr val="bg1"/>
                  </a:solidFill>
                </a:rPr>
                <a:t>Self-</a:t>
              </a:r>
              <a:r>
                <a:rPr lang="fr-FR" sz="2400" dirty="0" err="1">
                  <a:solidFill>
                    <a:schemeClr val="bg1"/>
                  </a:solidFill>
                </a:rPr>
                <a:t>reconfiguring</a:t>
              </a:r>
              <a:r>
                <a:rPr lang="fr-FR" sz="2400" dirty="0">
                  <a:solidFill>
                    <a:schemeClr val="bg1"/>
                  </a:solidFill>
                </a:rPr>
                <a:t> </a:t>
              </a:r>
            </a:p>
            <a:p>
              <a:pPr algn="ctr"/>
              <a:r>
                <a:rPr lang="fr-FR" sz="2400" dirty="0" err="1">
                  <a:solidFill>
                    <a:schemeClr val="bg1"/>
                  </a:solidFill>
                </a:rPr>
                <a:t>modular</a:t>
              </a:r>
              <a:r>
                <a:rPr lang="fr-FR" sz="2400" dirty="0">
                  <a:solidFill>
                    <a:schemeClr val="bg1"/>
                  </a:solidFill>
                </a:rPr>
                <a:t> robots, …</a:t>
              </a:r>
              <a:endParaRPr lang="en-CA" sz="24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4456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9BCBD09-202E-8D94-2C9B-3129B4EADC7B}"/>
              </a:ext>
            </a:extLst>
          </p:cNvPr>
          <p:cNvGrpSpPr/>
          <p:nvPr/>
        </p:nvGrpSpPr>
        <p:grpSpPr>
          <a:xfrm>
            <a:off x="2381475" y="118259"/>
            <a:ext cx="7429050" cy="6621481"/>
            <a:chOff x="2381475" y="118259"/>
            <a:chExt cx="7429050" cy="662148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08B5E7E-221B-8BCB-4512-C069E7FDAE78}"/>
                </a:ext>
              </a:extLst>
            </p:cNvPr>
            <p:cNvGrpSpPr/>
            <p:nvPr/>
          </p:nvGrpSpPr>
          <p:grpSpPr>
            <a:xfrm>
              <a:off x="2381475" y="118259"/>
              <a:ext cx="7429050" cy="6621481"/>
              <a:chOff x="2457450" y="1323975"/>
              <a:chExt cx="1538883" cy="13716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08EEC7-2859-13DD-DB63-D2F6636043D8}"/>
                  </a:ext>
                </a:extLst>
              </p:cNvPr>
              <p:cNvSpPr/>
              <p:nvPr/>
            </p:nvSpPr>
            <p:spPr>
              <a:xfrm>
                <a:off x="2457450" y="1323975"/>
                <a:ext cx="914400" cy="914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E95A5E8-4FC8-C241-0538-8F34850FABB4}"/>
                  </a:ext>
                </a:extLst>
              </p:cNvPr>
              <p:cNvSpPr/>
              <p:nvPr/>
            </p:nvSpPr>
            <p:spPr>
              <a:xfrm>
                <a:off x="2769692" y="1781175"/>
                <a:ext cx="914400" cy="914400"/>
              </a:xfrm>
              <a:prstGeom prst="ellipse">
                <a:avLst/>
              </a:prstGeom>
              <a:solidFill>
                <a:schemeClr val="accent2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0F8EBE9-481D-5B5B-1E45-5A89BA5A8369}"/>
                  </a:ext>
                </a:extLst>
              </p:cNvPr>
              <p:cNvSpPr/>
              <p:nvPr/>
            </p:nvSpPr>
            <p:spPr>
              <a:xfrm>
                <a:off x="3081933" y="1323975"/>
                <a:ext cx="914400" cy="914400"/>
              </a:xfrm>
              <a:prstGeom prst="ellipse">
                <a:avLst/>
              </a:prstGeom>
              <a:solidFill>
                <a:schemeClr val="accent6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DFF184-E538-324B-484E-76E82E4F97FA}"/>
                </a:ext>
              </a:extLst>
            </p:cNvPr>
            <p:cNvSpPr txBox="1"/>
            <p:nvPr/>
          </p:nvSpPr>
          <p:spPr>
            <a:xfrm>
              <a:off x="4787436" y="2598003"/>
              <a:ext cx="261712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PROGRAMMABLE</a:t>
              </a:r>
            </a:p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MATTER</a:t>
              </a:r>
              <a:endParaRPr lang="en-CA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5C0247A-371C-4869-2A25-D93F0229B6C2}"/>
                </a:ext>
              </a:extLst>
            </p:cNvPr>
            <p:cNvSpPr txBox="1"/>
            <p:nvPr/>
          </p:nvSpPr>
          <p:spPr>
            <a:xfrm>
              <a:off x="4273514" y="4591327"/>
              <a:ext cx="364497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</a:rPr>
                <a:t>Human-Computer Interaction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>
                  <a:solidFill>
                    <a:schemeClr val="bg1"/>
                  </a:solidFill>
                </a:rPr>
                <a:t>Shape-</a:t>
              </a:r>
              <a:r>
                <a:rPr lang="fr-FR" sz="2000" dirty="0" err="1">
                  <a:solidFill>
                    <a:schemeClr val="bg1"/>
                  </a:solidFill>
                </a:rPr>
                <a:t>Changing</a:t>
              </a:r>
              <a:r>
                <a:rPr lang="fr-FR" sz="2000" dirty="0">
                  <a:solidFill>
                    <a:schemeClr val="bg1"/>
                  </a:solidFill>
                </a:rPr>
                <a:t> Interfaces,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0C4C67-B801-6BCA-BA66-D6346B4989DE}"/>
                </a:ext>
              </a:extLst>
            </p:cNvPr>
            <p:cNvSpPr txBox="1"/>
            <p:nvPr/>
          </p:nvSpPr>
          <p:spPr>
            <a:xfrm>
              <a:off x="6795796" y="1466452"/>
              <a:ext cx="227209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 err="1">
                  <a:solidFill>
                    <a:schemeClr val="bg1"/>
                  </a:solidFill>
                </a:rPr>
                <a:t>Material</a:t>
              </a:r>
              <a:r>
                <a:rPr lang="fr-FR" sz="2000" b="1" dirty="0">
                  <a:solidFill>
                    <a:schemeClr val="bg1"/>
                  </a:solidFill>
                </a:rPr>
                <a:t> Sciences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 err="1">
                  <a:solidFill>
                    <a:schemeClr val="bg1"/>
                  </a:solidFill>
                </a:rPr>
                <a:t>Metamaterials</a:t>
              </a:r>
              <a:r>
                <a:rPr lang="fr-FR" sz="2000" dirty="0">
                  <a:solidFill>
                    <a:schemeClr val="bg1"/>
                  </a:solidFill>
                </a:rPr>
                <a:t>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78F1D4-DFC7-0325-631E-07A69EED235C}"/>
                </a:ext>
              </a:extLst>
            </p:cNvPr>
            <p:cNvSpPr txBox="1"/>
            <p:nvPr/>
          </p:nvSpPr>
          <p:spPr>
            <a:xfrm>
              <a:off x="3161703" y="1466453"/>
              <a:ext cx="222362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2000" b="1" dirty="0" err="1">
                  <a:solidFill>
                    <a:schemeClr val="bg1"/>
                  </a:solidFill>
                </a:rPr>
                <a:t>Robotics</a:t>
              </a:r>
              <a:br>
                <a:rPr lang="fr-FR" sz="2000" b="1" dirty="0">
                  <a:solidFill>
                    <a:schemeClr val="bg1"/>
                  </a:solidFill>
                </a:rPr>
              </a:br>
              <a:r>
                <a:rPr lang="fr-FR" sz="2000" dirty="0">
                  <a:solidFill>
                    <a:schemeClr val="bg1"/>
                  </a:solidFill>
                </a:rPr>
                <a:t>Self-</a:t>
              </a:r>
              <a:r>
                <a:rPr lang="fr-FR" sz="2000" dirty="0" err="1">
                  <a:solidFill>
                    <a:schemeClr val="bg1"/>
                  </a:solidFill>
                </a:rPr>
                <a:t>reconfiguring</a:t>
              </a:r>
              <a:r>
                <a:rPr lang="fr-FR" sz="2000" dirty="0">
                  <a:solidFill>
                    <a:schemeClr val="bg1"/>
                  </a:solidFill>
                </a:rPr>
                <a:t> </a:t>
              </a:r>
            </a:p>
            <a:p>
              <a:pPr algn="ctr"/>
              <a:r>
                <a:rPr lang="fr-FR" sz="2000" dirty="0" err="1">
                  <a:solidFill>
                    <a:schemeClr val="bg1"/>
                  </a:solidFill>
                </a:rPr>
                <a:t>modular</a:t>
              </a:r>
              <a:r>
                <a:rPr lang="fr-FR" sz="2000" dirty="0">
                  <a:solidFill>
                    <a:schemeClr val="bg1"/>
                  </a:solidFill>
                </a:rPr>
                <a:t> robots, …</a:t>
              </a:r>
              <a:endParaRPr lang="en-CA" sz="20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Picture 14" descr="A collage of different objects&#10;&#10;AI-generated content may be incorrect.">
            <a:extLst>
              <a:ext uri="{FF2B5EF4-FFF2-40B4-BE49-F238E27FC236}">
                <a16:creationId xmlns:a16="http://schemas.microsoft.com/office/drawing/2014/main" id="{4E57BF30-5634-62CD-3D02-8205A11A7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93367" y="-2247426"/>
            <a:ext cx="5601389" cy="40678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B0F404-B1DA-CCC4-4CB4-C323CC0DC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796" y="-774838"/>
            <a:ext cx="778192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073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961D2-48E0-546B-EB44-ADD84E66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BC31E57-3B1F-C2F6-B3E3-25EF49B600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594"/>
            <a:ext cx="12192000" cy="348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060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DB74-18D5-8378-0E26-2A5DF8FDC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1718DA-616F-7BED-570D-8B5798575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30" y="294837"/>
            <a:ext cx="9783540" cy="626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A0FA87-2F94-CF6B-4B10-E2523684A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3600" y="-2490973"/>
            <a:ext cx="12192000" cy="444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1985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D42489-1C40-DD79-40B0-E0BA37B54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138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99F23-17F9-B917-87F0-E6D5716CC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A92A895-4236-13E6-CC91-25F6F7051DF0}"/>
              </a:ext>
            </a:extLst>
          </p:cNvPr>
          <p:cNvGrpSpPr/>
          <p:nvPr/>
        </p:nvGrpSpPr>
        <p:grpSpPr>
          <a:xfrm>
            <a:off x="976313" y="1775617"/>
            <a:ext cx="10844214" cy="3736977"/>
            <a:chOff x="976313" y="1775617"/>
            <a:chExt cx="10844214" cy="373697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20925D0-6A3F-1325-46B5-2F06B00A63CB}"/>
                </a:ext>
              </a:extLst>
            </p:cNvPr>
            <p:cNvSpPr/>
            <p:nvPr/>
          </p:nvSpPr>
          <p:spPr>
            <a:xfrm>
              <a:off x="6960395" y="1775617"/>
              <a:ext cx="1579561" cy="157956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500" b="1" dirty="0"/>
                <a:t>C</a:t>
              </a:r>
              <a:endParaRPr lang="en-CA" sz="11500" b="1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EC66F52-7B6C-57DC-D229-21915AAFCD29}"/>
                </a:ext>
              </a:extLst>
            </p:cNvPr>
            <p:cNvSpPr/>
            <p:nvPr/>
          </p:nvSpPr>
          <p:spPr>
            <a:xfrm>
              <a:off x="9663908" y="1775620"/>
              <a:ext cx="1579561" cy="15795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500" b="1" dirty="0"/>
                <a:t>W</a:t>
              </a:r>
              <a:endParaRPr lang="en-CA" sz="115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5FAC41A-4C58-1334-5579-F1D540493D4C}"/>
                </a:ext>
              </a:extLst>
            </p:cNvPr>
            <p:cNvSpPr/>
            <p:nvPr/>
          </p:nvSpPr>
          <p:spPr>
            <a:xfrm>
              <a:off x="1553369" y="1775618"/>
              <a:ext cx="1579561" cy="157956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600" b="1" dirty="0"/>
                <a:t>M</a:t>
              </a:r>
              <a:endParaRPr lang="en-CA" sz="9600" b="1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997AE58-BCAD-4C07-420B-C9AA804B586B}"/>
                </a:ext>
              </a:extLst>
            </p:cNvPr>
            <p:cNvSpPr/>
            <p:nvPr/>
          </p:nvSpPr>
          <p:spPr>
            <a:xfrm>
              <a:off x="4256882" y="1775617"/>
              <a:ext cx="1579561" cy="157956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500" b="1" dirty="0"/>
                <a:t>S</a:t>
              </a:r>
              <a:endParaRPr lang="en-CA" sz="11500" b="1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B399AC-5661-4D33-81E9-6463BEB18362}"/>
                </a:ext>
              </a:extLst>
            </p:cNvPr>
            <p:cNvSpPr/>
            <p:nvPr/>
          </p:nvSpPr>
          <p:spPr>
            <a:xfrm>
              <a:off x="976313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2">
                      <a:lumMod val="40000"/>
                      <a:lumOff val="60000"/>
                    </a:schemeClr>
                  </a:solidFill>
                </a:rPr>
                <a:t>MUST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All the requirements that are necessary for the successful completion of the project.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558A73-B200-2ACE-DD62-73F186E006BE}"/>
                </a:ext>
              </a:extLst>
            </p:cNvPr>
            <p:cNvSpPr/>
            <p:nvPr/>
          </p:nvSpPr>
          <p:spPr>
            <a:xfrm>
              <a:off x="3679826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3">
                      <a:lumMod val="40000"/>
                      <a:lumOff val="60000"/>
                    </a:schemeClr>
                  </a:solidFill>
                </a:rPr>
                <a:t>SHOULD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Requirements that are important for project completion but not necessary.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74F7DA2-68D1-FF4D-B763-32D8C31CC7A8}"/>
                </a:ext>
              </a:extLst>
            </p:cNvPr>
            <p:cNvSpPr/>
            <p:nvPr/>
          </p:nvSpPr>
          <p:spPr>
            <a:xfrm>
              <a:off x="6383339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COULD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Requirements that are nice to have, but have  a much smaller impact when left out of the project.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DCE369A-3772-E20D-7997-500BE26D9730}"/>
                </a:ext>
              </a:extLst>
            </p:cNvPr>
            <p:cNvSpPr/>
            <p:nvPr/>
          </p:nvSpPr>
          <p:spPr>
            <a:xfrm>
              <a:off x="9086852" y="3502819"/>
              <a:ext cx="2733675" cy="2009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fr-FR" b="1" dirty="0">
                  <a:solidFill>
                    <a:schemeClr val="accent5">
                      <a:lumMod val="40000"/>
                      <a:lumOff val="60000"/>
                    </a:schemeClr>
                  </a:solidFill>
                </a:rPr>
                <a:t>WILL NOT HAVE</a:t>
              </a:r>
            </a:p>
            <a:p>
              <a:pPr algn="ctr"/>
              <a:r>
                <a:rPr lang="en-CA" dirty="0">
                  <a:solidFill>
                    <a:schemeClr val="tx1"/>
                  </a:solidFill>
                </a:rPr>
                <a:t>All the requirements that have been recognized as  not a priority for the project’s timeframe.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5003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25FD-031D-9F26-A14B-0B98F4AC3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A81176D-4DD7-517B-EDBC-74159B90DD59}"/>
              </a:ext>
            </a:extLst>
          </p:cNvPr>
          <p:cNvGrpSpPr/>
          <p:nvPr/>
        </p:nvGrpSpPr>
        <p:grpSpPr>
          <a:xfrm>
            <a:off x="2357437" y="516182"/>
            <a:ext cx="7477126" cy="5825635"/>
            <a:chOff x="876299" y="613567"/>
            <a:chExt cx="4312444" cy="335994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18E9D1-F2BA-CF05-0518-B6B92DC0795F}"/>
                </a:ext>
              </a:extLst>
            </p:cNvPr>
            <p:cNvSpPr/>
            <p:nvPr/>
          </p:nvSpPr>
          <p:spPr>
            <a:xfrm>
              <a:off x="876299" y="613567"/>
              <a:ext cx="2056606" cy="157956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sz="4000" b="1" dirty="0" err="1"/>
                <a:t>S</a:t>
              </a:r>
              <a:r>
                <a:rPr lang="fr-FR" sz="4000" dirty="0" err="1"/>
                <a:t>trengths</a:t>
              </a:r>
              <a:endParaRPr lang="en-CA" sz="4000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0925AF6-831C-8F05-6899-67033C690DDE}"/>
                </a:ext>
              </a:extLst>
            </p:cNvPr>
            <p:cNvSpPr/>
            <p:nvPr/>
          </p:nvSpPr>
          <p:spPr>
            <a:xfrm>
              <a:off x="3132137" y="613567"/>
              <a:ext cx="2056606" cy="1579561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sz="4000" b="1" dirty="0" err="1"/>
                <a:t>W</a:t>
              </a:r>
              <a:r>
                <a:rPr lang="fr-FR" sz="4000" dirty="0" err="1"/>
                <a:t>eaknesses</a:t>
              </a:r>
              <a:endParaRPr lang="en-CA" sz="40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716E87-654F-6F63-C1D6-E4A3527140CA}"/>
                </a:ext>
              </a:extLst>
            </p:cNvPr>
            <p:cNvSpPr/>
            <p:nvPr/>
          </p:nvSpPr>
          <p:spPr>
            <a:xfrm>
              <a:off x="876299" y="2393950"/>
              <a:ext cx="2056606" cy="157956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fr-FR" sz="4000" b="1" dirty="0" err="1"/>
                <a:t>O</a:t>
              </a:r>
              <a:r>
                <a:rPr lang="fr-FR" sz="4000" dirty="0" err="1"/>
                <a:t>pportunities</a:t>
              </a:r>
              <a:endParaRPr lang="en-CA" sz="40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B54C80-E0D8-3C9B-23A4-02D4313F78CC}"/>
                </a:ext>
              </a:extLst>
            </p:cNvPr>
            <p:cNvSpPr/>
            <p:nvPr/>
          </p:nvSpPr>
          <p:spPr>
            <a:xfrm>
              <a:off x="3132137" y="2393950"/>
              <a:ext cx="2056606" cy="15795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r"/>
              <a:r>
                <a:rPr lang="fr-FR" sz="4000" b="1" dirty="0" err="1"/>
                <a:t>T</a:t>
              </a:r>
              <a:r>
                <a:rPr lang="fr-FR" sz="4000" dirty="0" err="1"/>
                <a:t>hreats</a:t>
              </a:r>
              <a:endParaRPr lang="en-CA" sz="4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77750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4324A-3782-07D0-6DE0-F54932E4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D8C01D4C-5447-918F-03E3-80183FCB1772}"/>
              </a:ext>
            </a:extLst>
          </p:cNvPr>
          <p:cNvGrpSpPr/>
          <p:nvPr/>
        </p:nvGrpSpPr>
        <p:grpSpPr>
          <a:xfrm>
            <a:off x="877489" y="889753"/>
            <a:ext cx="10437021" cy="5078493"/>
            <a:chOff x="1688305" y="1676400"/>
            <a:chExt cx="10437021" cy="507849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05BE8FB-5285-6449-A6D3-77D5F2ACF11D}"/>
                </a:ext>
              </a:extLst>
            </p:cNvPr>
            <p:cNvSpPr/>
            <p:nvPr/>
          </p:nvSpPr>
          <p:spPr>
            <a:xfrm>
              <a:off x="1688305" y="1676400"/>
              <a:ext cx="4443414" cy="581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>
                  <a:solidFill>
                    <a:schemeClr val="tx1"/>
                  </a:solidFill>
                </a:rPr>
                <a:t>Problem</a:t>
              </a:r>
              <a:r>
                <a:rPr lang="fr-FR" sz="3600" b="1" dirty="0">
                  <a:solidFill>
                    <a:schemeClr val="tx1"/>
                  </a:solidFill>
                </a:rPr>
                <a:t> </a:t>
              </a:r>
              <a:r>
                <a:rPr lang="fr-FR" sz="3600" b="1" dirty="0" err="1">
                  <a:solidFill>
                    <a:schemeClr val="tx1"/>
                  </a:solidFill>
                </a:rPr>
                <a:t>statement</a:t>
              </a:r>
              <a:endParaRPr lang="en-CA" sz="3600" b="1" dirty="0">
                <a:solidFill>
                  <a:schemeClr val="tx1"/>
                </a:solidFill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7B678A1-3226-88FA-6995-123957BFD46A}"/>
                </a:ext>
              </a:extLst>
            </p:cNvPr>
            <p:cNvSpPr/>
            <p:nvPr/>
          </p:nvSpPr>
          <p:spPr>
            <a:xfrm>
              <a:off x="4252913" y="2381251"/>
              <a:ext cx="1457326" cy="61729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40F8E8C-A997-6BAE-6557-75EA310A2A57}"/>
                </a:ext>
              </a:extLst>
            </p:cNvPr>
            <p:cNvSpPr/>
            <p:nvPr/>
          </p:nvSpPr>
          <p:spPr>
            <a:xfrm>
              <a:off x="5324477" y="3122369"/>
              <a:ext cx="1457326" cy="61729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870CF33-E602-060B-9211-0171C1AD757D}"/>
                </a:ext>
              </a:extLst>
            </p:cNvPr>
            <p:cNvSpPr/>
            <p:nvPr/>
          </p:nvSpPr>
          <p:spPr>
            <a:xfrm>
              <a:off x="6396042" y="3859769"/>
              <a:ext cx="1457326" cy="61729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BF001A9-A685-1F35-8EB1-566CD0DF8949}"/>
                </a:ext>
              </a:extLst>
            </p:cNvPr>
            <p:cNvSpPr/>
            <p:nvPr/>
          </p:nvSpPr>
          <p:spPr>
            <a:xfrm>
              <a:off x="7467607" y="4597169"/>
              <a:ext cx="1457326" cy="61729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3744A5-CA05-9BF6-5B19-BCCE18A55862}"/>
                </a:ext>
              </a:extLst>
            </p:cNvPr>
            <p:cNvSpPr/>
            <p:nvPr/>
          </p:nvSpPr>
          <p:spPr>
            <a:xfrm>
              <a:off x="8539172" y="5334569"/>
              <a:ext cx="1457326" cy="617292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 err="1"/>
                <a:t>Why</a:t>
              </a:r>
              <a:r>
                <a:rPr lang="fr-FR" sz="3600" b="1" dirty="0"/>
                <a:t>?</a:t>
              </a:r>
              <a:endParaRPr lang="en-CA" sz="36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6324F38-0632-CDBD-7D48-D9F03A26608B}"/>
                </a:ext>
              </a:extLst>
            </p:cNvPr>
            <p:cNvSpPr/>
            <p:nvPr/>
          </p:nvSpPr>
          <p:spPr>
            <a:xfrm>
              <a:off x="9610737" y="6013775"/>
              <a:ext cx="2514589" cy="74111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3600" b="1" dirty="0">
                  <a:solidFill>
                    <a:schemeClr val="tx1"/>
                  </a:solidFill>
                </a:rPr>
                <a:t>Root cause</a:t>
              </a:r>
              <a:endParaRPr lang="en-CA" sz="3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34A13AEE-FED2-03E2-26A9-92D14E952209}"/>
                </a:ext>
              </a:extLst>
            </p:cNvPr>
            <p:cNvCxnSpPr>
              <a:stCxn id="3" idx="2"/>
              <a:endCxn id="13" idx="1"/>
            </p:cNvCxnSpPr>
            <p:nvPr/>
          </p:nvCxnSpPr>
          <p:spPr>
            <a:xfrm rot="16200000" flipH="1">
              <a:off x="4936790" y="3043328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: Curved 21">
              <a:extLst>
                <a:ext uri="{FF2B5EF4-FFF2-40B4-BE49-F238E27FC236}">
                  <a16:creationId xmlns:a16="http://schemas.microsoft.com/office/drawing/2014/main" id="{4C1DC914-8BFD-E82E-E68B-805050BF5AD8}"/>
                </a:ext>
              </a:extLst>
            </p:cNvPr>
            <p:cNvCxnSpPr/>
            <p:nvPr/>
          </p:nvCxnSpPr>
          <p:spPr>
            <a:xfrm rot="16200000" flipH="1">
              <a:off x="6008355" y="3784447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F21B61BC-28C3-1056-1051-EB5DB021C5C0}"/>
                </a:ext>
              </a:extLst>
            </p:cNvPr>
            <p:cNvCxnSpPr/>
            <p:nvPr/>
          </p:nvCxnSpPr>
          <p:spPr>
            <a:xfrm rot="16200000" flipH="1">
              <a:off x="7079920" y="4521847"/>
              <a:ext cx="432472" cy="342901"/>
            </a:xfrm>
            <a:prstGeom prst="curvedConnector2">
              <a:avLst/>
            </a:prstGeom>
            <a:ln w="6032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Curved 23">
              <a:extLst>
                <a:ext uri="{FF2B5EF4-FFF2-40B4-BE49-F238E27FC236}">
                  <a16:creationId xmlns:a16="http://schemas.microsoft.com/office/drawing/2014/main" id="{FCCE61CA-3ED3-0BB1-2070-B9DD244A2822}"/>
                </a:ext>
              </a:extLst>
            </p:cNvPr>
            <p:cNvCxnSpPr/>
            <p:nvPr/>
          </p:nvCxnSpPr>
          <p:spPr>
            <a:xfrm rot="16200000" flipH="1">
              <a:off x="8151485" y="5259246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EE4D01EA-5907-760B-F43C-3541701DB5C6}"/>
                </a:ext>
              </a:extLst>
            </p:cNvPr>
            <p:cNvCxnSpPr/>
            <p:nvPr/>
          </p:nvCxnSpPr>
          <p:spPr>
            <a:xfrm rot="16200000" flipH="1">
              <a:off x="9223050" y="5996647"/>
              <a:ext cx="432472" cy="342901"/>
            </a:xfrm>
            <a:prstGeom prst="curvedConnector2">
              <a:avLst/>
            </a:prstGeom>
            <a:ln w="6032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: Curved 25">
              <a:extLst>
                <a:ext uri="{FF2B5EF4-FFF2-40B4-BE49-F238E27FC236}">
                  <a16:creationId xmlns:a16="http://schemas.microsoft.com/office/drawing/2014/main" id="{89B4BD52-E6AE-0245-5105-2EC27BD60F08}"/>
                </a:ext>
              </a:extLst>
            </p:cNvPr>
            <p:cNvCxnSpPr/>
            <p:nvPr/>
          </p:nvCxnSpPr>
          <p:spPr>
            <a:xfrm rot="16200000" flipH="1">
              <a:off x="3865227" y="2302211"/>
              <a:ext cx="432472" cy="342901"/>
            </a:xfrm>
            <a:prstGeom prst="curvedConnector2">
              <a:avLst/>
            </a:prstGeom>
            <a:ln w="6032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208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666F098D-8861-6B4F-855A-AE847A85CE52}"/>
              </a:ext>
            </a:extLst>
          </p:cNvPr>
          <p:cNvGrpSpPr/>
          <p:nvPr/>
        </p:nvGrpSpPr>
        <p:grpSpPr>
          <a:xfrm>
            <a:off x="606029" y="582125"/>
            <a:ext cx="10979942" cy="5693749"/>
            <a:chOff x="2476500" y="732645"/>
            <a:chExt cx="10979942" cy="5693749"/>
          </a:xfrm>
        </p:grpSpPr>
        <p:pic>
          <p:nvPicPr>
            <p:cNvPr id="19" name="Graphic 18" descr="Top Hat with solid fill">
              <a:extLst>
                <a:ext uri="{FF2B5EF4-FFF2-40B4-BE49-F238E27FC236}">
                  <a16:creationId xmlns:a16="http://schemas.microsoft.com/office/drawing/2014/main" id="{8D6EE03D-EC62-5001-5D13-73157840C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86625" y="5254702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2" name="Graphic 21" descr="Top Hat with solid fill">
              <a:extLst>
                <a:ext uri="{FF2B5EF4-FFF2-40B4-BE49-F238E27FC236}">
                  <a16:creationId xmlns:a16="http://schemas.microsoft.com/office/drawing/2014/main" id="{DCEC5DDB-ACA2-DED5-F689-82E1EA2A8E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701079" y="3173607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5" name="Graphic 24" descr="Top Hat with solid fill">
              <a:extLst>
                <a:ext uri="{FF2B5EF4-FFF2-40B4-BE49-F238E27FC236}">
                  <a16:creationId xmlns:a16="http://schemas.microsoft.com/office/drawing/2014/main" id="{E7BCAC49-D9AE-78C8-AE00-0D463F21D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701079" y="5254702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6" name="Graphic 25" descr="Top Hat with solid fill">
              <a:extLst>
                <a:ext uri="{FF2B5EF4-FFF2-40B4-BE49-F238E27FC236}">
                  <a16:creationId xmlns:a16="http://schemas.microsoft.com/office/drawing/2014/main" id="{8066B7E7-2116-760D-FE7B-6243EEC00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386625" y="996071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7" name="Graphic 26" descr="Top Hat with solid fill">
              <a:extLst>
                <a:ext uri="{FF2B5EF4-FFF2-40B4-BE49-F238E27FC236}">
                  <a16:creationId xmlns:a16="http://schemas.microsoft.com/office/drawing/2014/main" id="{ED0EB9CB-B721-96C7-02AE-16EF9625A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701079" y="996071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pic>
          <p:nvPicPr>
            <p:cNvPr id="28" name="Graphic 27" descr="Top Hat with solid fill">
              <a:extLst>
                <a:ext uri="{FF2B5EF4-FFF2-40B4-BE49-F238E27FC236}">
                  <a16:creationId xmlns:a16="http://schemas.microsoft.com/office/drawing/2014/main" id="{93F58F76-B33A-9702-E613-9768992AF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386625" y="3173607"/>
              <a:ext cx="914400" cy="914400"/>
            </a:xfrm>
            <a:prstGeom prst="rect">
              <a:avLst/>
            </a:prstGeom>
            <a:effectLst>
              <a:glow>
                <a:schemeClr val="tx1"/>
              </a:glow>
            </a:effectLst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5F1FC5-4E33-BA49-5312-9EF2DCB01FCE}"/>
                </a:ext>
              </a:extLst>
            </p:cNvPr>
            <p:cNvSpPr/>
            <p:nvPr/>
          </p:nvSpPr>
          <p:spPr>
            <a:xfrm>
              <a:off x="2476500" y="732645"/>
              <a:ext cx="4910125" cy="14412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rgbClr val="0000FF"/>
                  </a:solidFill>
                </a:rPr>
                <a:t>PROCESS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Thinking about thinking. 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What thinking is needed? 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Organizing the thinking. 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Planning for action.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B8C6E6F-0DD4-61CF-286A-0ADC7F3BE71B}"/>
                </a:ext>
              </a:extLst>
            </p:cNvPr>
            <p:cNvSpPr/>
            <p:nvPr/>
          </p:nvSpPr>
          <p:spPr>
            <a:xfrm>
              <a:off x="9622630" y="732645"/>
              <a:ext cx="2733675" cy="12134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chemeClr val="accent6"/>
                  </a:solidFill>
                </a:rPr>
                <a:t>CREATIVITY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Ideas, alternatives, possibilities. Solution to black hat problems.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8CEB0AC-6376-803F-925E-C1066F2EA8C1}"/>
                </a:ext>
              </a:extLst>
            </p:cNvPr>
            <p:cNvSpPr/>
            <p:nvPr/>
          </p:nvSpPr>
          <p:spPr>
            <a:xfrm>
              <a:off x="2797949" y="2993939"/>
              <a:ext cx="4581525" cy="1697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chemeClr val="bg1"/>
                  </a:solidFill>
                </a:rPr>
                <a:t>FACTS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Information and data.  Neutral and objective.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What do I know?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What do I need to find out?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How will I get the information I needed?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0AAA37A-45EE-926D-ECC2-39DDBABB28F5}"/>
                </a:ext>
              </a:extLst>
            </p:cNvPr>
            <p:cNvSpPr/>
            <p:nvPr/>
          </p:nvSpPr>
          <p:spPr>
            <a:xfrm>
              <a:off x="9622630" y="2993939"/>
              <a:ext cx="2976562" cy="12737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rgbClr val="FFFF00"/>
                  </a:solidFill>
                </a:rPr>
                <a:t>BENEFITS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Positives, plus points.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Why an idea is useful.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Logical reasons are given.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9D9C76E-38E3-E498-5939-59DEC8FBAB78}"/>
                </a:ext>
              </a:extLst>
            </p:cNvPr>
            <p:cNvSpPr/>
            <p:nvPr/>
          </p:nvSpPr>
          <p:spPr>
            <a:xfrm>
              <a:off x="3007499" y="4997409"/>
              <a:ext cx="4371975" cy="14289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rgbClr val="FF0000"/>
                  </a:solidFill>
                </a:rPr>
                <a:t>FEELINGS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Intuition, hunches, gut instinct.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My feelings right now.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Feelings can change.</a:t>
              </a:r>
            </a:p>
            <a:p>
              <a:pPr algn="r"/>
              <a:r>
                <a:rPr lang="en-CA" dirty="0">
                  <a:solidFill>
                    <a:schemeClr val="tx1"/>
                  </a:solidFill>
                </a:rPr>
                <a:t>No reasons are given.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A1980E-E248-A0DC-DBBE-8DDFFB542741}"/>
                </a:ext>
              </a:extLst>
            </p:cNvPr>
            <p:cNvSpPr/>
            <p:nvPr/>
          </p:nvSpPr>
          <p:spPr>
            <a:xfrm>
              <a:off x="9622630" y="5039197"/>
              <a:ext cx="3833812" cy="134540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FR" b="1" dirty="0">
                  <a:ln>
                    <a:solidFill>
                      <a:schemeClr val="tx1"/>
                    </a:solidFill>
                  </a:ln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CAUTIONS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Difficulties, weaknesses, dangers.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Spotting the risks.</a:t>
              </a:r>
            </a:p>
            <a:p>
              <a:r>
                <a:rPr lang="en-CA" dirty="0">
                  <a:solidFill>
                    <a:schemeClr val="tx1"/>
                  </a:solidFill>
                </a:rPr>
                <a:t>Logical reasons are given.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4064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B05D9-DA1C-5849-542D-AC7BF12D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44E58B-7052-8AA9-036C-B6B0C8678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989841"/>
              </p:ext>
            </p:extLst>
          </p:nvPr>
        </p:nvGraphicFramePr>
        <p:xfrm>
          <a:off x="275771" y="290286"/>
          <a:ext cx="11466288" cy="628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1048">
                  <a:extLst>
                    <a:ext uri="{9D8B030D-6E8A-4147-A177-3AD203B41FA5}">
                      <a16:colId xmlns:a16="http://schemas.microsoft.com/office/drawing/2014/main" val="745484624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3743925756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397242054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1328654070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1688873620"/>
                    </a:ext>
                  </a:extLst>
                </a:gridCol>
                <a:gridCol w="1911048">
                  <a:extLst>
                    <a:ext uri="{9D8B030D-6E8A-4147-A177-3AD203B41FA5}">
                      <a16:colId xmlns:a16="http://schemas.microsoft.com/office/drawing/2014/main" val="1922668606"/>
                    </a:ext>
                  </a:extLst>
                </a:gridCol>
              </a:tblGrid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0" dirty="0">
                          <a:solidFill>
                            <a:schemeClr val="bg1"/>
                          </a:solidFill>
                        </a:rPr>
                        <a:t>Univers 1</a:t>
                      </a:r>
                    </a:p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vs</a:t>
                      </a:r>
                    </a:p>
                    <a:p>
                      <a:pPr algn="ctr"/>
                      <a:r>
                        <a:rPr lang="fr-FR" sz="2000" b="0" dirty="0">
                          <a:solidFill>
                            <a:schemeClr val="bg1"/>
                          </a:solidFill>
                        </a:rPr>
                        <a:t>Univers  2</a:t>
                      </a:r>
                      <a:endParaRPr lang="en-CA" sz="2000"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1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2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3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4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 Variable 5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99032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A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7298143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B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8130633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C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984665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D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4018023"/>
                  </a:ext>
                </a:extLst>
              </a:tr>
              <a:tr h="1047448">
                <a:tc>
                  <a:txBody>
                    <a:bodyPr/>
                    <a:lstStyle/>
                    <a:p>
                      <a:pPr algn="ctr"/>
                      <a:r>
                        <a:rPr lang="fr-FR" sz="2000" b="1" dirty="0">
                          <a:solidFill>
                            <a:schemeClr val="bg1"/>
                          </a:solidFill>
                        </a:rPr>
                        <a:t>Variable E</a:t>
                      </a:r>
                      <a:endParaRPr lang="en-CA" sz="20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CA" sz="20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2661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2179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BA2C-198F-6C1E-3A20-2CCB87FFC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F62FA44-22E0-9325-1874-B140B0A17FDF}"/>
              </a:ext>
            </a:extLst>
          </p:cNvPr>
          <p:cNvGrpSpPr/>
          <p:nvPr/>
        </p:nvGrpSpPr>
        <p:grpSpPr>
          <a:xfrm>
            <a:off x="1074057" y="196822"/>
            <a:ext cx="8969420" cy="6047487"/>
            <a:chOff x="1074057" y="196822"/>
            <a:chExt cx="8969420" cy="604748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AEF22B7-251D-6F24-4D81-22CCBCAB34DC}"/>
                </a:ext>
              </a:extLst>
            </p:cNvPr>
            <p:cNvGrpSpPr/>
            <p:nvPr/>
          </p:nvGrpSpPr>
          <p:grpSpPr>
            <a:xfrm>
              <a:off x="2801869" y="613691"/>
              <a:ext cx="7241608" cy="5630618"/>
              <a:chOff x="209321" y="167839"/>
              <a:chExt cx="8388440" cy="652232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1A5F7CE-A615-8FCA-BF56-8942B9EA005E}"/>
                  </a:ext>
                </a:extLst>
              </p:cNvPr>
              <p:cNvSpPr/>
              <p:nvPr/>
            </p:nvSpPr>
            <p:spPr>
              <a:xfrm>
                <a:off x="209322" y="167839"/>
                <a:ext cx="2597239" cy="19947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13871FAE-F2D4-87B2-F142-ED32E247DCC7}"/>
                  </a:ext>
                </a:extLst>
              </p:cNvPr>
              <p:cNvSpPr/>
              <p:nvPr/>
            </p:nvSpPr>
            <p:spPr>
              <a:xfrm>
                <a:off x="209321" y="2431605"/>
                <a:ext cx="2597239" cy="19947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D6A58F-983B-8364-302F-A88F467C6B8D}"/>
                  </a:ext>
                </a:extLst>
              </p:cNvPr>
              <p:cNvSpPr/>
              <p:nvPr/>
            </p:nvSpPr>
            <p:spPr>
              <a:xfrm>
                <a:off x="209321" y="4695371"/>
                <a:ext cx="2597239" cy="19947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C4AE318-2AB4-1592-2DC4-8D2EC675766E}"/>
                  </a:ext>
                </a:extLst>
              </p:cNvPr>
              <p:cNvSpPr/>
              <p:nvPr/>
            </p:nvSpPr>
            <p:spPr>
              <a:xfrm>
                <a:off x="3104922" y="167839"/>
                <a:ext cx="2597239" cy="199479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3DE597A-870C-C66D-4378-A988B269E35F}"/>
                  </a:ext>
                </a:extLst>
              </p:cNvPr>
              <p:cNvSpPr/>
              <p:nvPr/>
            </p:nvSpPr>
            <p:spPr>
              <a:xfrm>
                <a:off x="3104921" y="2431605"/>
                <a:ext cx="2597239" cy="199479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D0861F-C3E4-F4B7-AB3B-7A4AF796A827}"/>
                  </a:ext>
                </a:extLst>
              </p:cNvPr>
              <p:cNvSpPr/>
              <p:nvPr/>
            </p:nvSpPr>
            <p:spPr>
              <a:xfrm>
                <a:off x="3104921" y="4695371"/>
                <a:ext cx="2597239" cy="199479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2B80738-0BDE-E82D-A8BB-62AD0E625ACC}"/>
                  </a:ext>
                </a:extLst>
              </p:cNvPr>
              <p:cNvSpPr/>
              <p:nvPr/>
            </p:nvSpPr>
            <p:spPr>
              <a:xfrm>
                <a:off x="6000522" y="167839"/>
                <a:ext cx="2597239" cy="199479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C2E9B4F-8505-DE69-E3AA-4E956A97092B}"/>
                  </a:ext>
                </a:extLst>
              </p:cNvPr>
              <p:cNvSpPr/>
              <p:nvPr/>
            </p:nvSpPr>
            <p:spPr>
              <a:xfrm>
                <a:off x="6000521" y="2431605"/>
                <a:ext cx="2597239" cy="199479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2DEF8F-197D-843B-C3DA-2F5272448802}"/>
                  </a:ext>
                </a:extLst>
              </p:cNvPr>
              <p:cNvSpPr/>
              <p:nvPr/>
            </p:nvSpPr>
            <p:spPr>
              <a:xfrm>
                <a:off x="6000521" y="4695371"/>
                <a:ext cx="2597239" cy="199479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endParaRPr lang="en-CA" sz="4000" dirty="0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8C97E4E-8A4F-D7B5-D04D-D701405C7E40}"/>
                </a:ext>
              </a:extLst>
            </p:cNvPr>
            <p:cNvSpPr txBox="1"/>
            <p:nvPr/>
          </p:nvSpPr>
          <p:spPr>
            <a:xfrm>
              <a:off x="2801869" y="196822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CA" b="1" dirty="0">
                  <a:solidFill>
                    <a:schemeClr val="tx1"/>
                  </a:solidFill>
                </a:rPr>
                <a:t>Past</a:t>
              </a:r>
              <a:endParaRPr lang="en-CA" b="1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E5DEE73-5B4C-648E-B32E-1C37D2483DF2}"/>
                </a:ext>
              </a:extLst>
            </p:cNvPr>
            <p:cNvSpPr txBox="1"/>
            <p:nvPr/>
          </p:nvSpPr>
          <p:spPr>
            <a:xfrm>
              <a:off x="5301595" y="196822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CA" b="1" dirty="0">
                  <a:solidFill>
                    <a:schemeClr val="tx1"/>
                  </a:solidFill>
                </a:rPr>
                <a:t>Present</a:t>
              </a:r>
              <a:endParaRPr lang="en-CA" b="1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050CD3-1E11-5C37-4AEE-4E7666CE5186}"/>
                </a:ext>
              </a:extLst>
            </p:cNvPr>
            <p:cNvSpPr txBox="1"/>
            <p:nvPr/>
          </p:nvSpPr>
          <p:spPr>
            <a:xfrm>
              <a:off x="7801319" y="196822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CA" b="1" dirty="0" err="1">
                  <a:solidFill>
                    <a:schemeClr val="tx1"/>
                  </a:solidFill>
                </a:rPr>
                <a:t>Futur</a:t>
              </a:r>
              <a:endParaRPr lang="en-CA" b="1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27F5-9A99-994B-2540-AEEFA0E2E090}"/>
                </a:ext>
              </a:extLst>
            </p:cNvPr>
            <p:cNvSpPr txBox="1"/>
            <p:nvPr/>
          </p:nvSpPr>
          <p:spPr>
            <a:xfrm>
              <a:off x="1074057" y="1313913"/>
              <a:ext cx="17278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Super-System</a:t>
              </a:r>
              <a:endParaRPr lang="en-CA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3D2538E-97DD-6516-409C-D16FDFB5D6A3}"/>
                </a:ext>
              </a:extLst>
            </p:cNvPr>
            <p:cNvSpPr txBox="1"/>
            <p:nvPr/>
          </p:nvSpPr>
          <p:spPr>
            <a:xfrm>
              <a:off x="1074057" y="3315724"/>
              <a:ext cx="17278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System</a:t>
              </a:r>
              <a:endParaRPr lang="en-CA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2E6A084-DE9D-50E9-7E97-7BDB8E47B7E0}"/>
                </a:ext>
              </a:extLst>
            </p:cNvPr>
            <p:cNvSpPr txBox="1"/>
            <p:nvPr/>
          </p:nvSpPr>
          <p:spPr>
            <a:xfrm>
              <a:off x="1074057" y="5174755"/>
              <a:ext cx="17278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 err="1"/>
                <a:t>Sub</a:t>
              </a:r>
              <a:r>
                <a:rPr lang="fr-FR" b="1" dirty="0"/>
                <a:t>-System</a:t>
              </a:r>
              <a:endParaRPr lang="en-CA" b="1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EED7A4F-F49B-3E84-759B-C47931E804EF}"/>
                </a:ext>
              </a:extLst>
            </p:cNvPr>
            <p:cNvSpPr txBox="1"/>
            <p:nvPr/>
          </p:nvSpPr>
          <p:spPr>
            <a:xfrm>
              <a:off x="5301594" y="3244334"/>
              <a:ext cx="224215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 err="1"/>
                <a:t>Systems</a:t>
              </a:r>
              <a:r>
                <a:rPr lang="fr-FR" b="1" dirty="0"/>
                <a:t>/</a:t>
              </a:r>
              <a:r>
                <a:rPr lang="fr-FR" b="1" dirty="0" err="1"/>
                <a:t>Problems</a:t>
              </a:r>
              <a:endParaRPr lang="en-CA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67826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288</Words>
  <Application>Microsoft Office PowerPoint</Application>
  <PresentationFormat>Widescreen</PresentationFormat>
  <Paragraphs>80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DANIEL</dc:creator>
  <cp:lastModifiedBy>Maxime DANIEL</cp:lastModifiedBy>
  <cp:revision>11</cp:revision>
  <dcterms:created xsi:type="dcterms:W3CDTF">2025-11-24T16:26:32Z</dcterms:created>
  <dcterms:modified xsi:type="dcterms:W3CDTF">2025-11-28T15:56:10Z</dcterms:modified>
</cp:coreProperties>
</file>