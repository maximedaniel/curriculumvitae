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8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7FEF"/>
    <a:srgbClr val="CCFF33"/>
    <a:srgbClr val="00CC99"/>
    <a:srgbClr val="0000FF"/>
    <a:srgbClr val="FF0000"/>
    <a:srgbClr val="00FF00"/>
    <a:srgbClr val="0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22EC6-26C4-D7E4-A3F3-77A61CFAF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22C27-E2D3-3A9B-E537-78B18D90C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BAF68-BFC1-DFEE-BCC8-D8122E696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F5C45-C04A-4C46-D05E-8FE173B97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60336-61CA-9DA7-F2A9-FE32EF91A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0463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E51A1-15BC-DBF8-A613-6EAAC60DD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FA009-A8FC-C937-157E-EC30C2B0A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04E89-4A19-B4A6-99BF-A97699E79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0183E-6B50-BB22-393E-7868BE41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71083-0088-DBE8-DB21-C78C1A502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4190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6ED6-44AD-1623-F258-BF03F5A66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3AB60-223C-CA06-887B-76EB41245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38A02-2134-BF64-5B69-90F62F86D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96A4C-5847-D7F4-56AF-D393036FF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C3E1E-D47C-27B6-EE8A-D5391407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698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CAEFC-FB5A-E042-F0D2-41A4BC78A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E576E-151F-E8ED-51FE-5B992E84F1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3D6BD-FDF7-1976-4024-09779D7EFB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EC6B7-0E0A-AB6B-C365-B5C228E0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66C5D-8F18-8C6D-6A32-1E7F63BE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DF655-EEB2-385B-F02E-50D48C830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413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B6B70-AA1C-0D43-59BE-C90AEE4AD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9F4FC-9AA2-A263-32D3-FB300A71B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315B8-51DA-24C3-D0CB-7813B4696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516A43-3042-822F-D3AE-0B50E9F9A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9FFAFA-2200-F3F8-7765-0487C401F4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444678-E451-FC94-D23B-6112561C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BA5F66-FF48-ABC5-81C7-B3979867F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3FDAF7-1F1C-C00E-5AD3-74CCB7C07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492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4A64B-DBAB-2CC0-A7CC-462ECE02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1CD53D-56F3-20F6-A6E3-3306C907E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1EE2-E00D-9B60-D0B5-74BC486B7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7A820-8C5E-AD7D-BC6C-F977864D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3485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A7CB19-F2AE-7378-2582-CCEE6E035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1BE837-4547-F039-10EA-BF24889F2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FB7BD-C5D7-D7D7-55F2-FEFB73F9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0034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4E87C-BBB0-CC1B-FCB3-323AE3EA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0658-40FA-D903-8BF7-A9569FBF6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5F28D-564B-81AA-8EA8-3A6FC65BC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C4B1A-3481-4B85-0C93-72C13954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AE585-EE2E-4DE5-ADA1-6E202FF3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18CFB-5678-C6B9-4C4F-EA8E6D14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61183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378B2-7C91-FC35-3679-E905166E3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52A35-35AD-928A-9C7C-2B3B18C89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02D4B-C2FA-99F6-AD19-97C4138D4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7AB0C-72D7-667D-F0C4-F6331D9ED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8F7B4-28B7-6F7E-36C9-1BEFBCA5F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3ABF4-C576-1F36-004F-653C7E722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3029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D8709-45F7-AE42-0AEC-DF4C267D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812765-67BA-135D-F0FA-B7F7AF96F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66E1E-AEB4-EEAD-99F8-AAE432B6D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17299-7A75-6F6C-F7A5-E6907D5DC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30662-F762-259D-00C1-FA735781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135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F5812D-EE0B-B82D-0A54-6E2E77B63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E5C3A0-DEBB-1175-8682-8025FB649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4C600-C798-10EB-EF65-27B259F50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2BF6F-7570-416F-9627-E64960631677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17B88-62B2-26EE-CE67-7F82B452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1988F-D62E-422C-93D0-C4786FD2D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0571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F3C3F8-A402-4BA3-B7BB-E0CE37D6F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91029-916D-F135-F69B-98EFCD896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2C887-F13C-D3CD-5D49-30A4C4E89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72BF6F-7570-416F-9627-E64960631677}" type="datetimeFigureOut">
              <a:rPr lang="en-CA" smtClean="0"/>
              <a:t>2026-01-12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A6EF3-2FBA-F4B8-2955-0CA9E01088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8ACD1-1DDB-83FA-63E0-36DA07B9C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77C21-5873-4F9D-9991-11F1633DFA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4608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6F86F-A80D-D02C-95E5-026ED900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92DF464-ADD3-8112-6C47-99EFDF591481}"/>
              </a:ext>
            </a:extLst>
          </p:cNvPr>
          <p:cNvGrpSpPr/>
          <p:nvPr/>
        </p:nvGrpSpPr>
        <p:grpSpPr>
          <a:xfrm>
            <a:off x="2381475" y="118259"/>
            <a:ext cx="7429050" cy="6621481"/>
            <a:chOff x="2381475" y="118259"/>
            <a:chExt cx="7429050" cy="662148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C941AC4-6CF6-461A-817E-EA936FA1D799}"/>
                </a:ext>
              </a:extLst>
            </p:cNvPr>
            <p:cNvGrpSpPr/>
            <p:nvPr/>
          </p:nvGrpSpPr>
          <p:grpSpPr>
            <a:xfrm>
              <a:off x="2381475" y="118259"/>
              <a:ext cx="7429050" cy="6621481"/>
              <a:chOff x="2457450" y="1323975"/>
              <a:chExt cx="1538883" cy="137160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4FF2B8D-B4E5-2456-DD7B-87810E18DDB7}"/>
                  </a:ext>
                </a:extLst>
              </p:cNvPr>
              <p:cNvSpPr/>
              <p:nvPr/>
            </p:nvSpPr>
            <p:spPr>
              <a:xfrm>
                <a:off x="2457450" y="1323975"/>
                <a:ext cx="914400" cy="91440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5AD7F86-F74F-0E20-B185-64811DE0A296}"/>
                  </a:ext>
                </a:extLst>
              </p:cNvPr>
              <p:cNvSpPr/>
              <p:nvPr/>
            </p:nvSpPr>
            <p:spPr>
              <a:xfrm>
                <a:off x="2769692" y="1781175"/>
                <a:ext cx="914400" cy="914400"/>
              </a:xfrm>
              <a:prstGeom prst="ellipse">
                <a:avLst/>
              </a:prstGeom>
              <a:solidFill>
                <a:schemeClr val="accent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EBEA760-F824-D087-A4AD-0D1E2B6EC00A}"/>
                  </a:ext>
                </a:extLst>
              </p:cNvPr>
              <p:cNvSpPr/>
              <p:nvPr/>
            </p:nvSpPr>
            <p:spPr>
              <a:xfrm>
                <a:off x="3081933" y="1323975"/>
                <a:ext cx="914400" cy="914400"/>
              </a:xfrm>
              <a:prstGeom prst="ellipse">
                <a:avLst/>
              </a:prstGeom>
              <a:solidFill>
                <a:schemeClr val="accent6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7FA77FA-BFE3-99F9-4FF6-47A0050160A5}"/>
                </a:ext>
              </a:extLst>
            </p:cNvPr>
            <p:cNvSpPr txBox="1"/>
            <p:nvPr/>
          </p:nvSpPr>
          <p:spPr>
            <a:xfrm>
              <a:off x="4787436" y="2598003"/>
              <a:ext cx="261712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PROGRAMMABLE</a:t>
              </a:r>
            </a:p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MATTER</a:t>
              </a:r>
              <a:endParaRPr lang="en-CA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DF0B14-0799-95D7-15E4-F7359B0D42F4}"/>
                </a:ext>
              </a:extLst>
            </p:cNvPr>
            <p:cNvSpPr txBox="1"/>
            <p:nvPr/>
          </p:nvSpPr>
          <p:spPr>
            <a:xfrm>
              <a:off x="3929028" y="4551629"/>
              <a:ext cx="433394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Human-Computer Interaction</a:t>
              </a:r>
              <a:br>
                <a:rPr lang="fr-FR" sz="2400" b="1" dirty="0">
                  <a:solidFill>
                    <a:schemeClr val="bg1"/>
                  </a:solidFill>
                </a:rPr>
              </a:br>
              <a:r>
                <a:rPr lang="fr-FR" sz="2400" dirty="0">
                  <a:solidFill>
                    <a:schemeClr val="bg1"/>
                  </a:solidFill>
                </a:rPr>
                <a:t>Shape-</a:t>
              </a:r>
              <a:r>
                <a:rPr lang="fr-FR" sz="2400" dirty="0" err="1">
                  <a:solidFill>
                    <a:schemeClr val="bg1"/>
                  </a:solidFill>
                </a:rPr>
                <a:t>Changing</a:t>
              </a:r>
              <a:r>
                <a:rPr lang="fr-FR" sz="2400" dirty="0">
                  <a:solidFill>
                    <a:schemeClr val="bg1"/>
                  </a:solidFill>
                </a:rPr>
                <a:t> Interfaces, …</a:t>
              </a:r>
              <a:endParaRPr lang="en-CA" sz="24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E9278D4-1CAF-E0B4-46CB-8884FDB60C19}"/>
                </a:ext>
              </a:extLst>
            </p:cNvPr>
            <p:cNvSpPr txBox="1"/>
            <p:nvPr/>
          </p:nvSpPr>
          <p:spPr>
            <a:xfrm>
              <a:off x="6877643" y="1321196"/>
              <a:ext cx="268676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400" b="1" dirty="0" err="1">
                  <a:solidFill>
                    <a:schemeClr val="bg1"/>
                  </a:solidFill>
                </a:rPr>
                <a:t>Material</a:t>
              </a:r>
              <a:r>
                <a:rPr lang="fr-FR" sz="2400" b="1" dirty="0">
                  <a:solidFill>
                    <a:schemeClr val="bg1"/>
                  </a:solidFill>
                </a:rPr>
                <a:t> Sciences</a:t>
              </a:r>
              <a:br>
                <a:rPr lang="fr-FR" sz="2400" b="1" dirty="0">
                  <a:solidFill>
                    <a:schemeClr val="bg1"/>
                  </a:solidFill>
                </a:rPr>
              </a:br>
              <a:r>
                <a:rPr lang="fr-FR" sz="2400" dirty="0" err="1">
                  <a:solidFill>
                    <a:schemeClr val="bg1"/>
                  </a:solidFill>
                </a:rPr>
                <a:t>Metamaterials</a:t>
              </a:r>
              <a:r>
                <a:rPr lang="fr-FR" sz="2400" dirty="0">
                  <a:solidFill>
                    <a:schemeClr val="bg1"/>
                  </a:solidFill>
                </a:rPr>
                <a:t>, …</a:t>
              </a:r>
              <a:endParaRPr lang="en-CA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C8E4C89-517D-2D40-D954-E83A2621D4FF}"/>
                </a:ext>
              </a:extLst>
            </p:cNvPr>
            <p:cNvSpPr txBox="1"/>
            <p:nvPr/>
          </p:nvSpPr>
          <p:spPr>
            <a:xfrm>
              <a:off x="2615239" y="1338927"/>
              <a:ext cx="262757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400" b="1" dirty="0" err="1">
                  <a:solidFill>
                    <a:schemeClr val="bg1"/>
                  </a:solidFill>
                </a:rPr>
                <a:t>Robotics</a:t>
              </a:r>
              <a:br>
                <a:rPr lang="fr-FR" sz="2400" b="1" dirty="0">
                  <a:solidFill>
                    <a:schemeClr val="bg1"/>
                  </a:solidFill>
                </a:rPr>
              </a:br>
              <a:r>
                <a:rPr lang="fr-FR" sz="2400" dirty="0">
                  <a:solidFill>
                    <a:schemeClr val="bg1"/>
                  </a:solidFill>
                </a:rPr>
                <a:t>Self-</a:t>
              </a:r>
              <a:r>
                <a:rPr lang="fr-FR" sz="2400" dirty="0" err="1">
                  <a:solidFill>
                    <a:schemeClr val="bg1"/>
                  </a:solidFill>
                </a:rPr>
                <a:t>reconfiguring</a:t>
              </a:r>
              <a:r>
                <a:rPr lang="fr-FR" sz="2400" dirty="0">
                  <a:solidFill>
                    <a:schemeClr val="bg1"/>
                  </a:solidFill>
                </a:rPr>
                <a:t> </a:t>
              </a:r>
            </a:p>
            <a:p>
              <a:pPr algn="ctr"/>
              <a:r>
                <a:rPr lang="fr-FR" sz="2400" dirty="0" err="1">
                  <a:solidFill>
                    <a:schemeClr val="bg1"/>
                  </a:solidFill>
                </a:rPr>
                <a:t>modular</a:t>
              </a:r>
              <a:r>
                <a:rPr lang="fr-FR" sz="2400" dirty="0">
                  <a:solidFill>
                    <a:schemeClr val="bg1"/>
                  </a:solidFill>
                </a:rPr>
                <a:t> robots, …</a:t>
              </a:r>
              <a:endParaRPr lang="en-CA" sz="2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4456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D1860-8917-B130-A8E9-465A19BB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8BCD8B53-3CB3-289C-DDE2-95BDAF14B6B1}"/>
              </a:ext>
            </a:extLst>
          </p:cNvPr>
          <p:cNvGrpSpPr/>
          <p:nvPr/>
        </p:nvGrpSpPr>
        <p:grpSpPr>
          <a:xfrm>
            <a:off x="0" y="1683136"/>
            <a:ext cx="12192000" cy="3491728"/>
            <a:chOff x="0" y="1551813"/>
            <a:chExt cx="12192000" cy="3491728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C4BBF41-D8F2-D0F8-9165-09DC3C13534B}"/>
                </a:ext>
              </a:extLst>
            </p:cNvPr>
            <p:cNvSpPr/>
            <p:nvPr/>
          </p:nvSpPr>
          <p:spPr>
            <a:xfrm>
              <a:off x="838200" y="3286125"/>
              <a:ext cx="914400" cy="9144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DAD57ED-E596-8A57-AE2F-CA0ABC729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3752"/>
            <a:stretch>
              <a:fillRect/>
            </a:stretch>
          </p:blipFill>
          <p:spPr>
            <a:xfrm>
              <a:off x="0" y="1551813"/>
              <a:ext cx="12192000" cy="2991612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2436EC0-1BBF-9590-1542-7F41AAE5A670}"/>
                </a:ext>
              </a:extLst>
            </p:cNvPr>
            <p:cNvSpPr txBox="1"/>
            <p:nvPr/>
          </p:nvSpPr>
          <p:spPr>
            <a:xfrm>
              <a:off x="231678" y="4520321"/>
              <a:ext cx="13463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rgbClr val="4D7FEF"/>
                  </a:solidFill>
                </a:rPr>
                <a:t>meters</a:t>
              </a:r>
              <a:endParaRPr lang="en-CA" sz="2800" b="1" dirty="0">
                <a:solidFill>
                  <a:srgbClr val="4D7FEF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81215B7-721D-E364-34B9-3E86CA79922F}"/>
                </a:ext>
              </a:extLst>
            </p:cNvPr>
            <p:cNvSpPr txBox="1"/>
            <p:nvPr/>
          </p:nvSpPr>
          <p:spPr>
            <a:xfrm>
              <a:off x="2209605" y="4520321"/>
              <a:ext cx="21767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rgbClr val="4D7FEF"/>
                  </a:solidFill>
                </a:rPr>
                <a:t>centimeters</a:t>
              </a:r>
              <a:endParaRPr lang="en-CA" sz="2800" b="1" dirty="0">
                <a:solidFill>
                  <a:srgbClr val="4D7FEF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0EAE0C5-DC33-22CB-5398-4A391EF4BAEF}"/>
                </a:ext>
              </a:extLst>
            </p:cNvPr>
            <p:cNvSpPr txBox="1"/>
            <p:nvPr/>
          </p:nvSpPr>
          <p:spPr>
            <a:xfrm>
              <a:off x="7318466" y="4520321"/>
              <a:ext cx="22929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rgbClr val="4D7FEF"/>
                  </a:solidFill>
                </a:rPr>
                <a:t>micrometers</a:t>
              </a:r>
              <a:endParaRPr lang="en-CA" sz="2800" b="1" dirty="0">
                <a:solidFill>
                  <a:srgbClr val="4D7FEF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F252A59-5FDE-DDF6-C564-FC53B431121C}"/>
                </a:ext>
              </a:extLst>
            </p:cNvPr>
            <p:cNvSpPr txBox="1"/>
            <p:nvPr/>
          </p:nvSpPr>
          <p:spPr>
            <a:xfrm>
              <a:off x="10024867" y="4520321"/>
              <a:ext cx="216713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rgbClr val="4D7FEF"/>
                  </a:solidFill>
                </a:rPr>
                <a:t>nanometers</a:t>
              </a:r>
              <a:endParaRPr lang="en-CA" sz="2800" b="1" dirty="0">
                <a:solidFill>
                  <a:srgbClr val="4D7FEF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C027C30-8128-7624-7446-DFDC5D8D3FD2}"/>
                </a:ext>
              </a:extLst>
            </p:cNvPr>
            <p:cNvSpPr txBox="1"/>
            <p:nvPr/>
          </p:nvSpPr>
          <p:spPr>
            <a:xfrm>
              <a:off x="4799821" y="4520321"/>
              <a:ext cx="20693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800" b="1" dirty="0" err="1">
                  <a:solidFill>
                    <a:srgbClr val="4D7FEF"/>
                  </a:solidFill>
                </a:rPr>
                <a:t>millimeters</a:t>
              </a:r>
              <a:endParaRPr lang="en-CA" sz="2800" b="1" dirty="0">
                <a:solidFill>
                  <a:srgbClr val="4D7FE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4302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9BCBD09-202E-8D94-2C9B-3129B4EADC7B}"/>
              </a:ext>
            </a:extLst>
          </p:cNvPr>
          <p:cNvGrpSpPr/>
          <p:nvPr/>
        </p:nvGrpSpPr>
        <p:grpSpPr>
          <a:xfrm>
            <a:off x="2381475" y="118259"/>
            <a:ext cx="7429050" cy="6621481"/>
            <a:chOff x="2381475" y="118259"/>
            <a:chExt cx="7429050" cy="662148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08B5E7E-221B-8BCB-4512-C069E7FDAE78}"/>
                </a:ext>
              </a:extLst>
            </p:cNvPr>
            <p:cNvGrpSpPr/>
            <p:nvPr/>
          </p:nvGrpSpPr>
          <p:grpSpPr>
            <a:xfrm>
              <a:off x="2381475" y="118259"/>
              <a:ext cx="7429050" cy="6621481"/>
              <a:chOff x="2457450" y="1323975"/>
              <a:chExt cx="1538883" cy="1371600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E08EEC7-2859-13DD-DB63-D2F6636043D8}"/>
                  </a:ext>
                </a:extLst>
              </p:cNvPr>
              <p:cNvSpPr/>
              <p:nvPr/>
            </p:nvSpPr>
            <p:spPr>
              <a:xfrm>
                <a:off x="2457450" y="1323975"/>
                <a:ext cx="914400" cy="914400"/>
              </a:xfrm>
              <a:prstGeom prst="ellipse">
                <a:avLst/>
              </a:prstGeom>
              <a:solidFill>
                <a:schemeClr val="accent4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E95A5E8-4FC8-C241-0538-8F34850FABB4}"/>
                  </a:ext>
                </a:extLst>
              </p:cNvPr>
              <p:cNvSpPr/>
              <p:nvPr/>
            </p:nvSpPr>
            <p:spPr>
              <a:xfrm>
                <a:off x="2769692" y="1781175"/>
                <a:ext cx="914400" cy="914400"/>
              </a:xfrm>
              <a:prstGeom prst="ellipse">
                <a:avLst/>
              </a:prstGeom>
              <a:solidFill>
                <a:schemeClr val="accent2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0F8EBE9-481D-5B5B-1E45-5A89BA5A8369}"/>
                  </a:ext>
                </a:extLst>
              </p:cNvPr>
              <p:cNvSpPr/>
              <p:nvPr/>
            </p:nvSpPr>
            <p:spPr>
              <a:xfrm>
                <a:off x="3081933" y="1323975"/>
                <a:ext cx="914400" cy="914400"/>
              </a:xfrm>
              <a:prstGeom prst="ellipse">
                <a:avLst/>
              </a:prstGeom>
              <a:solidFill>
                <a:schemeClr val="accent6">
                  <a:alpha val="7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BDFF184-E538-324B-484E-76E82E4F97FA}"/>
                </a:ext>
              </a:extLst>
            </p:cNvPr>
            <p:cNvSpPr txBox="1"/>
            <p:nvPr/>
          </p:nvSpPr>
          <p:spPr>
            <a:xfrm>
              <a:off x="4787436" y="2598003"/>
              <a:ext cx="261712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PROGRAMMABLE</a:t>
              </a:r>
            </a:p>
            <a:p>
              <a:pPr algn="ctr"/>
              <a:r>
                <a:rPr lang="fr-FR" sz="2400" b="1" dirty="0">
                  <a:solidFill>
                    <a:schemeClr val="bg1"/>
                  </a:solidFill>
                </a:rPr>
                <a:t>MATTER</a:t>
              </a:r>
              <a:endParaRPr lang="en-CA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5C0247A-371C-4869-2A25-D93F0229B6C2}"/>
                </a:ext>
              </a:extLst>
            </p:cNvPr>
            <p:cNvSpPr txBox="1"/>
            <p:nvPr/>
          </p:nvSpPr>
          <p:spPr>
            <a:xfrm>
              <a:off x="4273514" y="4591327"/>
              <a:ext cx="364497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000" b="1" dirty="0">
                  <a:solidFill>
                    <a:schemeClr val="bg1"/>
                  </a:solidFill>
                </a:rPr>
                <a:t>Human-Computer Interaction</a:t>
              </a:r>
              <a:br>
                <a:rPr lang="fr-FR" sz="2000" b="1" dirty="0">
                  <a:solidFill>
                    <a:schemeClr val="bg1"/>
                  </a:solidFill>
                </a:rPr>
              </a:br>
              <a:r>
                <a:rPr lang="fr-FR" sz="2000" dirty="0">
                  <a:solidFill>
                    <a:schemeClr val="bg1"/>
                  </a:solidFill>
                </a:rPr>
                <a:t>Shape-</a:t>
              </a:r>
              <a:r>
                <a:rPr lang="fr-FR" sz="2000" dirty="0" err="1">
                  <a:solidFill>
                    <a:schemeClr val="bg1"/>
                  </a:solidFill>
                </a:rPr>
                <a:t>Changing</a:t>
              </a:r>
              <a:r>
                <a:rPr lang="fr-FR" sz="2000" dirty="0">
                  <a:solidFill>
                    <a:schemeClr val="bg1"/>
                  </a:solidFill>
                </a:rPr>
                <a:t> Interfaces, …</a:t>
              </a:r>
              <a:endParaRPr lang="en-CA" sz="20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0C4C67-B801-6BCA-BA66-D6346B4989DE}"/>
                </a:ext>
              </a:extLst>
            </p:cNvPr>
            <p:cNvSpPr txBox="1"/>
            <p:nvPr/>
          </p:nvSpPr>
          <p:spPr>
            <a:xfrm>
              <a:off x="6795796" y="1466452"/>
              <a:ext cx="227209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000" b="1" dirty="0" err="1">
                  <a:solidFill>
                    <a:schemeClr val="bg1"/>
                  </a:solidFill>
                </a:rPr>
                <a:t>Material</a:t>
              </a:r>
              <a:r>
                <a:rPr lang="fr-FR" sz="2000" b="1" dirty="0">
                  <a:solidFill>
                    <a:schemeClr val="bg1"/>
                  </a:solidFill>
                </a:rPr>
                <a:t> Sciences</a:t>
              </a:r>
              <a:br>
                <a:rPr lang="fr-FR" sz="2000" b="1" dirty="0">
                  <a:solidFill>
                    <a:schemeClr val="bg1"/>
                  </a:solidFill>
                </a:rPr>
              </a:br>
              <a:r>
                <a:rPr lang="fr-FR" sz="2000" dirty="0" err="1">
                  <a:solidFill>
                    <a:schemeClr val="bg1"/>
                  </a:solidFill>
                </a:rPr>
                <a:t>Metamaterials</a:t>
              </a:r>
              <a:r>
                <a:rPr lang="fr-FR" sz="2000" dirty="0">
                  <a:solidFill>
                    <a:schemeClr val="bg1"/>
                  </a:solidFill>
                </a:rPr>
                <a:t>, …</a:t>
              </a:r>
              <a:endParaRPr lang="en-CA" sz="20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78F1D4-DFC7-0325-631E-07A69EED235C}"/>
                </a:ext>
              </a:extLst>
            </p:cNvPr>
            <p:cNvSpPr txBox="1"/>
            <p:nvPr/>
          </p:nvSpPr>
          <p:spPr>
            <a:xfrm>
              <a:off x="3161703" y="1466453"/>
              <a:ext cx="222362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000" b="1" dirty="0" err="1">
                  <a:solidFill>
                    <a:schemeClr val="bg1"/>
                  </a:solidFill>
                </a:rPr>
                <a:t>Robotics</a:t>
              </a:r>
              <a:br>
                <a:rPr lang="fr-FR" sz="2000" b="1" dirty="0">
                  <a:solidFill>
                    <a:schemeClr val="bg1"/>
                  </a:solidFill>
                </a:rPr>
              </a:br>
              <a:r>
                <a:rPr lang="fr-FR" sz="2000" dirty="0">
                  <a:solidFill>
                    <a:schemeClr val="bg1"/>
                  </a:solidFill>
                </a:rPr>
                <a:t>Self-</a:t>
              </a:r>
              <a:r>
                <a:rPr lang="fr-FR" sz="2000" dirty="0" err="1">
                  <a:solidFill>
                    <a:schemeClr val="bg1"/>
                  </a:solidFill>
                </a:rPr>
                <a:t>reconfiguring</a:t>
              </a:r>
              <a:r>
                <a:rPr lang="fr-FR" sz="2000" dirty="0">
                  <a:solidFill>
                    <a:schemeClr val="bg1"/>
                  </a:solidFill>
                </a:rPr>
                <a:t> </a:t>
              </a:r>
            </a:p>
            <a:p>
              <a:pPr algn="ctr"/>
              <a:r>
                <a:rPr lang="fr-FR" sz="2000" dirty="0" err="1">
                  <a:solidFill>
                    <a:schemeClr val="bg1"/>
                  </a:solidFill>
                </a:rPr>
                <a:t>modular</a:t>
              </a:r>
              <a:r>
                <a:rPr lang="fr-FR" sz="2000" dirty="0">
                  <a:solidFill>
                    <a:schemeClr val="bg1"/>
                  </a:solidFill>
                </a:rPr>
                <a:t> robots, …</a:t>
              </a:r>
              <a:endParaRPr lang="en-CA" sz="20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5" name="Picture 14" descr="A collage of different objects&#10;&#10;AI-generated content may be incorrect.">
            <a:extLst>
              <a:ext uri="{FF2B5EF4-FFF2-40B4-BE49-F238E27FC236}">
                <a16:creationId xmlns:a16="http://schemas.microsoft.com/office/drawing/2014/main" id="{4E57BF30-5634-62CD-3D02-8205A11A7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93367" y="-2247426"/>
            <a:ext cx="5601389" cy="40678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9B0F404-B1DA-CCC4-4CB4-C323CC0DC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978" y="-2728428"/>
            <a:ext cx="77819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73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961D2-48E0-546B-EB44-ADD84E66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BC31E57-3B1F-C2F6-B3E3-25EF49B60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594"/>
            <a:ext cx="12192000" cy="348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060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3DB74-18D5-8378-0E26-2A5DF8FDC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1718DA-616F-7BED-570D-8B5798575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230" y="294837"/>
            <a:ext cx="9783540" cy="62683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A0FA87-2F94-CF6B-4B10-E2523684A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3600" y="-2490973"/>
            <a:ext cx="12192000" cy="444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198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D42489-1C40-DD79-40B0-E0BA37B54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38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99F23-17F9-B917-87F0-E6D5716CC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BA92A895-4236-13E6-CC91-25F6F7051DF0}"/>
              </a:ext>
            </a:extLst>
          </p:cNvPr>
          <p:cNvGrpSpPr/>
          <p:nvPr/>
        </p:nvGrpSpPr>
        <p:grpSpPr>
          <a:xfrm>
            <a:off x="976313" y="1775617"/>
            <a:ext cx="10844214" cy="3736977"/>
            <a:chOff x="976313" y="1775617"/>
            <a:chExt cx="10844214" cy="373697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20925D0-6A3F-1325-46B5-2F06B00A63CB}"/>
                </a:ext>
              </a:extLst>
            </p:cNvPr>
            <p:cNvSpPr/>
            <p:nvPr/>
          </p:nvSpPr>
          <p:spPr>
            <a:xfrm>
              <a:off x="6960395" y="1775617"/>
              <a:ext cx="1579561" cy="157956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500" b="1" dirty="0"/>
                <a:t>C</a:t>
              </a:r>
              <a:endParaRPr lang="en-CA" sz="11500" b="1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EC66F52-7B6C-57DC-D229-21915AAFCD29}"/>
                </a:ext>
              </a:extLst>
            </p:cNvPr>
            <p:cNvSpPr/>
            <p:nvPr/>
          </p:nvSpPr>
          <p:spPr>
            <a:xfrm>
              <a:off x="9663908" y="1775620"/>
              <a:ext cx="1579561" cy="157956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500" b="1" dirty="0"/>
                <a:t>W</a:t>
              </a:r>
              <a:endParaRPr lang="en-CA" sz="115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5FAC41A-4C58-1334-5579-F1D540493D4C}"/>
                </a:ext>
              </a:extLst>
            </p:cNvPr>
            <p:cNvSpPr/>
            <p:nvPr/>
          </p:nvSpPr>
          <p:spPr>
            <a:xfrm>
              <a:off x="1553369" y="1775618"/>
              <a:ext cx="1579561" cy="157956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600" b="1" dirty="0"/>
                <a:t>M</a:t>
              </a:r>
              <a:endParaRPr lang="en-CA" sz="9600" b="1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997AE58-BCAD-4C07-420B-C9AA804B586B}"/>
                </a:ext>
              </a:extLst>
            </p:cNvPr>
            <p:cNvSpPr/>
            <p:nvPr/>
          </p:nvSpPr>
          <p:spPr>
            <a:xfrm>
              <a:off x="4256882" y="1775617"/>
              <a:ext cx="1579561" cy="157956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1500" b="1" dirty="0"/>
                <a:t>S</a:t>
              </a:r>
              <a:endParaRPr lang="en-CA" sz="11500" b="1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2B399AC-5661-4D33-81E9-6463BEB18362}"/>
                </a:ext>
              </a:extLst>
            </p:cNvPr>
            <p:cNvSpPr/>
            <p:nvPr/>
          </p:nvSpPr>
          <p:spPr>
            <a:xfrm>
              <a:off x="976313" y="3502819"/>
              <a:ext cx="2733675" cy="2009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b="1" dirty="0">
                  <a:solidFill>
                    <a:schemeClr val="accent2">
                      <a:lumMod val="40000"/>
                      <a:lumOff val="60000"/>
                    </a:schemeClr>
                  </a:solidFill>
                </a:rPr>
                <a:t>MUST HAVE</a:t>
              </a:r>
            </a:p>
            <a:p>
              <a:pPr algn="ctr"/>
              <a:r>
                <a:rPr lang="en-CA" dirty="0">
                  <a:solidFill>
                    <a:schemeClr val="tx1"/>
                  </a:solidFill>
                </a:rPr>
                <a:t>All the requirements that are necessary for the successful completion of the project.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8558A73-B200-2ACE-DD62-73F186E006BE}"/>
                </a:ext>
              </a:extLst>
            </p:cNvPr>
            <p:cNvSpPr/>
            <p:nvPr/>
          </p:nvSpPr>
          <p:spPr>
            <a:xfrm>
              <a:off x="3679826" y="3502819"/>
              <a:ext cx="2733675" cy="2009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b="1" dirty="0">
                  <a:solidFill>
                    <a:schemeClr val="accent3">
                      <a:lumMod val="40000"/>
                      <a:lumOff val="60000"/>
                    </a:schemeClr>
                  </a:solidFill>
                </a:rPr>
                <a:t>SHOULD HAVE</a:t>
              </a:r>
            </a:p>
            <a:p>
              <a:pPr algn="ctr"/>
              <a:r>
                <a:rPr lang="en-CA" dirty="0">
                  <a:solidFill>
                    <a:schemeClr val="tx1"/>
                  </a:solidFill>
                </a:rPr>
                <a:t>Requirements that are important for project completion but not necessary.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74F7DA2-68D1-FF4D-B763-32D8C31CC7A8}"/>
                </a:ext>
              </a:extLst>
            </p:cNvPr>
            <p:cNvSpPr/>
            <p:nvPr/>
          </p:nvSpPr>
          <p:spPr>
            <a:xfrm>
              <a:off x="6383339" y="3502819"/>
              <a:ext cx="2733675" cy="2009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b="1" dirty="0">
                  <a:solidFill>
                    <a:schemeClr val="accent4">
                      <a:lumMod val="40000"/>
                      <a:lumOff val="60000"/>
                    </a:schemeClr>
                  </a:solidFill>
                </a:rPr>
                <a:t>COULD HAVE</a:t>
              </a:r>
            </a:p>
            <a:p>
              <a:pPr algn="ctr"/>
              <a:r>
                <a:rPr lang="en-CA" dirty="0">
                  <a:solidFill>
                    <a:schemeClr val="tx1"/>
                  </a:solidFill>
                </a:rPr>
                <a:t>Requirements that are nice to have, but have  a much smaller impact when left out of the project.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DCE369A-3772-E20D-7997-500BE26D9730}"/>
                </a:ext>
              </a:extLst>
            </p:cNvPr>
            <p:cNvSpPr/>
            <p:nvPr/>
          </p:nvSpPr>
          <p:spPr>
            <a:xfrm>
              <a:off x="9086852" y="3502819"/>
              <a:ext cx="2733675" cy="20097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b="1" dirty="0">
                  <a:solidFill>
                    <a:schemeClr val="accent5">
                      <a:lumMod val="40000"/>
                      <a:lumOff val="60000"/>
                    </a:schemeClr>
                  </a:solidFill>
                </a:rPr>
                <a:t>WILL NOT HAVE</a:t>
              </a:r>
            </a:p>
            <a:p>
              <a:pPr algn="ctr"/>
              <a:r>
                <a:rPr lang="en-CA" dirty="0">
                  <a:solidFill>
                    <a:schemeClr val="tx1"/>
                  </a:solidFill>
                </a:rPr>
                <a:t>All the requirements that have been recognized as  not a priority for the project’s timeframe.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5003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25FD-031D-9F26-A14B-0B98F4AC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A81176D-4DD7-517B-EDBC-74159B90DD59}"/>
              </a:ext>
            </a:extLst>
          </p:cNvPr>
          <p:cNvGrpSpPr/>
          <p:nvPr/>
        </p:nvGrpSpPr>
        <p:grpSpPr>
          <a:xfrm>
            <a:off x="2357437" y="516182"/>
            <a:ext cx="7477126" cy="5825635"/>
            <a:chOff x="876299" y="613567"/>
            <a:chExt cx="4312444" cy="335994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B18E9D1-F2BA-CF05-0518-B6B92DC0795F}"/>
                </a:ext>
              </a:extLst>
            </p:cNvPr>
            <p:cNvSpPr/>
            <p:nvPr/>
          </p:nvSpPr>
          <p:spPr>
            <a:xfrm>
              <a:off x="876299" y="613567"/>
              <a:ext cx="2056606" cy="157956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fr-FR" sz="4000" b="1" dirty="0" err="1"/>
                <a:t>S</a:t>
              </a:r>
              <a:r>
                <a:rPr lang="fr-FR" sz="4000" dirty="0" err="1"/>
                <a:t>trengths</a:t>
              </a:r>
              <a:endParaRPr lang="en-CA" sz="4000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0925AF6-831C-8F05-6899-67033C690DDE}"/>
                </a:ext>
              </a:extLst>
            </p:cNvPr>
            <p:cNvSpPr/>
            <p:nvPr/>
          </p:nvSpPr>
          <p:spPr>
            <a:xfrm>
              <a:off x="3132137" y="613567"/>
              <a:ext cx="2056606" cy="157956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fr-FR" sz="4000" b="1" dirty="0" err="1"/>
                <a:t>W</a:t>
              </a:r>
              <a:r>
                <a:rPr lang="fr-FR" sz="4000" dirty="0" err="1"/>
                <a:t>eaknesses</a:t>
              </a:r>
              <a:endParaRPr lang="en-CA" sz="4000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6716E87-654F-6F63-C1D6-E4A3527140CA}"/>
                </a:ext>
              </a:extLst>
            </p:cNvPr>
            <p:cNvSpPr/>
            <p:nvPr/>
          </p:nvSpPr>
          <p:spPr>
            <a:xfrm>
              <a:off x="876299" y="2393950"/>
              <a:ext cx="2056606" cy="1579561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fr-FR" sz="4000" b="1" dirty="0" err="1"/>
                <a:t>O</a:t>
              </a:r>
              <a:r>
                <a:rPr lang="fr-FR" sz="4000" dirty="0" err="1"/>
                <a:t>pportunities</a:t>
              </a:r>
              <a:endParaRPr lang="en-CA" sz="4000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1B54C80-E0D8-3C9B-23A4-02D4313F78CC}"/>
                </a:ext>
              </a:extLst>
            </p:cNvPr>
            <p:cNvSpPr/>
            <p:nvPr/>
          </p:nvSpPr>
          <p:spPr>
            <a:xfrm>
              <a:off x="3132137" y="2393950"/>
              <a:ext cx="2056606" cy="157956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r>
                <a:rPr lang="fr-FR" sz="4000" b="1" dirty="0" err="1"/>
                <a:t>T</a:t>
              </a:r>
              <a:r>
                <a:rPr lang="fr-FR" sz="4000" dirty="0" err="1"/>
                <a:t>hreats</a:t>
              </a:r>
              <a:endParaRPr lang="en-CA" sz="4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77750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4324A-3782-07D0-6DE0-F54932E4A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D8C01D4C-5447-918F-03E3-80183FCB1772}"/>
              </a:ext>
            </a:extLst>
          </p:cNvPr>
          <p:cNvGrpSpPr/>
          <p:nvPr/>
        </p:nvGrpSpPr>
        <p:grpSpPr>
          <a:xfrm>
            <a:off x="877489" y="889753"/>
            <a:ext cx="10437021" cy="5078493"/>
            <a:chOff x="1688305" y="1676400"/>
            <a:chExt cx="10437021" cy="507849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05BE8FB-5285-6449-A6D3-77D5F2ACF11D}"/>
                </a:ext>
              </a:extLst>
            </p:cNvPr>
            <p:cNvSpPr/>
            <p:nvPr/>
          </p:nvSpPr>
          <p:spPr>
            <a:xfrm>
              <a:off x="1688305" y="1676400"/>
              <a:ext cx="4443414" cy="5810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 err="1">
                  <a:solidFill>
                    <a:schemeClr val="tx1"/>
                  </a:solidFill>
                </a:rPr>
                <a:t>Problem</a:t>
              </a:r>
              <a:r>
                <a:rPr lang="fr-FR" sz="3600" b="1" dirty="0">
                  <a:solidFill>
                    <a:schemeClr val="tx1"/>
                  </a:solidFill>
                </a:rPr>
                <a:t> </a:t>
              </a:r>
              <a:r>
                <a:rPr lang="fr-FR" sz="3600" b="1" dirty="0" err="1">
                  <a:solidFill>
                    <a:schemeClr val="tx1"/>
                  </a:solidFill>
                </a:rPr>
                <a:t>statement</a:t>
              </a:r>
              <a:endParaRPr lang="en-CA" sz="3600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7B678A1-3226-88FA-6995-123957BFD46A}"/>
                </a:ext>
              </a:extLst>
            </p:cNvPr>
            <p:cNvSpPr/>
            <p:nvPr/>
          </p:nvSpPr>
          <p:spPr>
            <a:xfrm>
              <a:off x="4252913" y="2381251"/>
              <a:ext cx="1457326" cy="61729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 err="1"/>
                <a:t>Why</a:t>
              </a:r>
              <a:r>
                <a:rPr lang="fr-FR" sz="3600" b="1" dirty="0"/>
                <a:t>?</a:t>
              </a:r>
              <a:endParaRPr lang="en-CA" sz="36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40F8E8C-A997-6BAE-6557-75EA310A2A57}"/>
                </a:ext>
              </a:extLst>
            </p:cNvPr>
            <p:cNvSpPr/>
            <p:nvPr/>
          </p:nvSpPr>
          <p:spPr>
            <a:xfrm>
              <a:off x="5324477" y="3122369"/>
              <a:ext cx="1457326" cy="6172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 err="1"/>
                <a:t>Why</a:t>
              </a:r>
              <a:r>
                <a:rPr lang="fr-FR" sz="3600" b="1" dirty="0"/>
                <a:t>?</a:t>
              </a:r>
              <a:endParaRPr lang="en-CA" sz="3600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870CF33-E602-060B-9211-0171C1AD757D}"/>
                </a:ext>
              </a:extLst>
            </p:cNvPr>
            <p:cNvSpPr/>
            <p:nvPr/>
          </p:nvSpPr>
          <p:spPr>
            <a:xfrm>
              <a:off x="6396042" y="3859769"/>
              <a:ext cx="1457326" cy="61729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 err="1"/>
                <a:t>Why</a:t>
              </a:r>
              <a:r>
                <a:rPr lang="fr-FR" sz="3600" b="1" dirty="0"/>
                <a:t>?</a:t>
              </a:r>
              <a:endParaRPr lang="en-CA" sz="36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BF001A9-A685-1F35-8EB1-566CD0DF8949}"/>
                </a:ext>
              </a:extLst>
            </p:cNvPr>
            <p:cNvSpPr/>
            <p:nvPr/>
          </p:nvSpPr>
          <p:spPr>
            <a:xfrm>
              <a:off x="7467607" y="4597169"/>
              <a:ext cx="1457326" cy="61729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 err="1"/>
                <a:t>Why</a:t>
              </a:r>
              <a:r>
                <a:rPr lang="fr-FR" sz="3600" b="1" dirty="0"/>
                <a:t>?</a:t>
              </a:r>
              <a:endParaRPr lang="en-CA" sz="36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03744A5-CA05-9BF6-5B19-BCCE18A55862}"/>
                </a:ext>
              </a:extLst>
            </p:cNvPr>
            <p:cNvSpPr/>
            <p:nvPr/>
          </p:nvSpPr>
          <p:spPr>
            <a:xfrm>
              <a:off x="8539172" y="5334569"/>
              <a:ext cx="1457326" cy="617292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600" b="1" dirty="0" err="1"/>
                <a:t>Why</a:t>
              </a:r>
              <a:r>
                <a:rPr lang="fr-FR" sz="3600" b="1" dirty="0"/>
                <a:t>?</a:t>
              </a:r>
              <a:endParaRPr lang="en-CA" sz="36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6324F38-0632-CDBD-7D48-D9F03A26608B}"/>
                </a:ext>
              </a:extLst>
            </p:cNvPr>
            <p:cNvSpPr/>
            <p:nvPr/>
          </p:nvSpPr>
          <p:spPr>
            <a:xfrm>
              <a:off x="9610737" y="6013775"/>
              <a:ext cx="2514589" cy="7411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600" b="1" dirty="0">
                  <a:solidFill>
                    <a:schemeClr val="tx1"/>
                  </a:solidFill>
                </a:rPr>
                <a:t>Root cause</a:t>
              </a:r>
              <a:endParaRPr lang="en-CA" sz="3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Connector: Curved 18">
              <a:extLst>
                <a:ext uri="{FF2B5EF4-FFF2-40B4-BE49-F238E27FC236}">
                  <a16:creationId xmlns:a16="http://schemas.microsoft.com/office/drawing/2014/main" id="{34A13AEE-FED2-03E2-26A9-92D14E952209}"/>
                </a:ext>
              </a:extLst>
            </p:cNvPr>
            <p:cNvCxnSpPr>
              <a:stCxn id="3" idx="2"/>
              <a:endCxn id="13" idx="1"/>
            </p:cNvCxnSpPr>
            <p:nvPr/>
          </p:nvCxnSpPr>
          <p:spPr>
            <a:xfrm rot="16200000" flipH="1">
              <a:off x="4936790" y="3043328"/>
              <a:ext cx="432472" cy="342901"/>
            </a:xfrm>
            <a:prstGeom prst="curvedConnector2">
              <a:avLst/>
            </a:prstGeom>
            <a:ln w="60325">
              <a:solidFill>
                <a:schemeClr val="accent2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4C1DC914-8BFD-E82E-E68B-805050BF5AD8}"/>
                </a:ext>
              </a:extLst>
            </p:cNvPr>
            <p:cNvCxnSpPr/>
            <p:nvPr/>
          </p:nvCxnSpPr>
          <p:spPr>
            <a:xfrm rot="16200000" flipH="1">
              <a:off x="6008355" y="3784447"/>
              <a:ext cx="432472" cy="342901"/>
            </a:xfrm>
            <a:prstGeom prst="curvedConnector2">
              <a:avLst/>
            </a:prstGeom>
            <a:ln w="60325">
              <a:solidFill>
                <a:schemeClr val="accent2">
                  <a:lumMod val="40000"/>
                  <a:lumOff val="6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F21B61BC-28C3-1056-1051-EB5DB021C5C0}"/>
                </a:ext>
              </a:extLst>
            </p:cNvPr>
            <p:cNvCxnSpPr/>
            <p:nvPr/>
          </p:nvCxnSpPr>
          <p:spPr>
            <a:xfrm rot="16200000" flipH="1">
              <a:off x="7079920" y="4521847"/>
              <a:ext cx="432472" cy="342901"/>
            </a:xfrm>
            <a:prstGeom prst="curvedConnector2">
              <a:avLst/>
            </a:prstGeom>
            <a:ln w="60325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Curved 23">
              <a:extLst>
                <a:ext uri="{FF2B5EF4-FFF2-40B4-BE49-F238E27FC236}">
                  <a16:creationId xmlns:a16="http://schemas.microsoft.com/office/drawing/2014/main" id="{FCCE61CA-3ED3-0BB1-2070-B9DD244A2822}"/>
                </a:ext>
              </a:extLst>
            </p:cNvPr>
            <p:cNvCxnSpPr/>
            <p:nvPr/>
          </p:nvCxnSpPr>
          <p:spPr>
            <a:xfrm rot="16200000" flipH="1">
              <a:off x="8151485" y="5259246"/>
              <a:ext cx="432472" cy="342901"/>
            </a:xfrm>
            <a:prstGeom prst="curvedConnector2">
              <a:avLst/>
            </a:prstGeom>
            <a:ln w="6032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Curved 24">
              <a:extLst>
                <a:ext uri="{FF2B5EF4-FFF2-40B4-BE49-F238E27FC236}">
                  <a16:creationId xmlns:a16="http://schemas.microsoft.com/office/drawing/2014/main" id="{EE4D01EA-5907-760B-F43C-3541701DB5C6}"/>
                </a:ext>
              </a:extLst>
            </p:cNvPr>
            <p:cNvCxnSpPr/>
            <p:nvPr/>
          </p:nvCxnSpPr>
          <p:spPr>
            <a:xfrm rot="16200000" flipH="1">
              <a:off x="9223050" y="5996647"/>
              <a:ext cx="432472" cy="342901"/>
            </a:xfrm>
            <a:prstGeom prst="curvedConnector2">
              <a:avLst/>
            </a:prstGeom>
            <a:ln w="6032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: Curved 25">
              <a:extLst>
                <a:ext uri="{FF2B5EF4-FFF2-40B4-BE49-F238E27FC236}">
                  <a16:creationId xmlns:a16="http://schemas.microsoft.com/office/drawing/2014/main" id="{89B4BD52-E6AE-0245-5105-2EC27BD60F08}"/>
                </a:ext>
              </a:extLst>
            </p:cNvPr>
            <p:cNvCxnSpPr/>
            <p:nvPr/>
          </p:nvCxnSpPr>
          <p:spPr>
            <a:xfrm rot="16200000" flipH="1">
              <a:off x="3865227" y="2302211"/>
              <a:ext cx="432472" cy="342901"/>
            </a:xfrm>
            <a:prstGeom prst="curvedConnector2">
              <a:avLst/>
            </a:prstGeom>
            <a:ln w="603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98208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666F098D-8861-6B4F-855A-AE847A85CE52}"/>
              </a:ext>
            </a:extLst>
          </p:cNvPr>
          <p:cNvGrpSpPr/>
          <p:nvPr/>
        </p:nvGrpSpPr>
        <p:grpSpPr>
          <a:xfrm>
            <a:off x="606029" y="582125"/>
            <a:ext cx="10979942" cy="5693749"/>
            <a:chOff x="2476500" y="732645"/>
            <a:chExt cx="10979942" cy="5693749"/>
          </a:xfrm>
        </p:grpSpPr>
        <p:pic>
          <p:nvPicPr>
            <p:cNvPr id="19" name="Graphic 18" descr="Top Hat with solid fill">
              <a:extLst>
                <a:ext uri="{FF2B5EF4-FFF2-40B4-BE49-F238E27FC236}">
                  <a16:creationId xmlns:a16="http://schemas.microsoft.com/office/drawing/2014/main" id="{8D6EE03D-EC62-5001-5D13-73157840C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86625" y="5254702"/>
              <a:ext cx="914400" cy="914400"/>
            </a:xfrm>
            <a:prstGeom prst="rect">
              <a:avLst/>
            </a:prstGeom>
            <a:effectLst>
              <a:glow>
                <a:schemeClr val="tx1"/>
              </a:glow>
            </a:effectLst>
          </p:spPr>
        </p:pic>
        <p:pic>
          <p:nvPicPr>
            <p:cNvPr id="22" name="Graphic 21" descr="Top Hat with solid fill">
              <a:extLst>
                <a:ext uri="{FF2B5EF4-FFF2-40B4-BE49-F238E27FC236}">
                  <a16:creationId xmlns:a16="http://schemas.microsoft.com/office/drawing/2014/main" id="{DCEC5DDB-ACA2-DED5-F689-82E1EA2A8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01079" y="3173607"/>
              <a:ext cx="914400" cy="914400"/>
            </a:xfrm>
            <a:prstGeom prst="rect">
              <a:avLst/>
            </a:prstGeom>
            <a:effectLst>
              <a:glow>
                <a:schemeClr val="tx1"/>
              </a:glow>
            </a:effectLst>
          </p:spPr>
        </p:pic>
        <p:pic>
          <p:nvPicPr>
            <p:cNvPr id="25" name="Graphic 24" descr="Top Hat with solid fill">
              <a:extLst>
                <a:ext uri="{FF2B5EF4-FFF2-40B4-BE49-F238E27FC236}">
                  <a16:creationId xmlns:a16="http://schemas.microsoft.com/office/drawing/2014/main" id="{E7BCAC49-D9AE-78C8-AE00-0D463F21D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701079" y="5254702"/>
              <a:ext cx="914400" cy="914400"/>
            </a:xfrm>
            <a:prstGeom prst="rect">
              <a:avLst/>
            </a:prstGeom>
            <a:effectLst>
              <a:glow>
                <a:schemeClr val="tx1"/>
              </a:glow>
            </a:effectLst>
          </p:spPr>
        </p:pic>
        <p:pic>
          <p:nvPicPr>
            <p:cNvPr id="26" name="Graphic 25" descr="Top Hat with solid fill">
              <a:extLst>
                <a:ext uri="{FF2B5EF4-FFF2-40B4-BE49-F238E27FC236}">
                  <a16:creationId xmlns:a16="http://schemas.microsoft.com/office/drawing/2014/main" id="{8066B7E7-2116-760D-FE7B-6243EEC00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386625" y="996071"/>
              <a:ext cx="914400" cy="914400"/>
            </a:xfrm>
            <a:prstGeom prst="rect">
              <a:avLst/>
            </a:prstGeom>
            <a:effectLst>
              <a:glow>
                <a:schemeClr val="tx1"/>
              </a:glow>
            </a:effectLst>
          </p:spPr>
        </p:pic>
        <p:pic>
          <p:nvPicPr>
            <p:cNvPr id="27" name="Graphic 26" descr="Top Hat with solid fill">
              <a:extLst>
                <a:ext uri="{FF2B5EF4-FFF2-40B4-BE49-F238E27FC236}">
                  <a16:creationId xmlns:a16="http://schemas.microsoft.com/office/drawing/2014/main" id="{ED0EB9CB-B721-96C7-02AE-16EF9625A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701079" y="996071"/>
              <a:ext cx="914400" cy="914400"/>
            </a:xfrm>
            <a:prstGeom prst="rect">
              <a:avLst/>
            </a:prstGeom>
            <a:effectLst>
              <a:glow>
                <a:schemeClr val="tx1"/>
              </a:glow>
            </a:effectLst>
          </p:spPr>
        </p:pic>
        <p:pic>
          <p:nvPicPr>
            <p:cNvPr id="28" name="Graphic 27" descr="Top Hat with solid fill">
              <a:extLst>
                <a:ext uri="{FF2B5EF4-FFF2-40B4-BE49-F238E27FC236}">
                  <a16:creationId xmlns:a16="http://schemas.microsoft.com/office/drawing/2014/main" id="{93F58F76-B33A-9702-E613-9768992AF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386625" y="3173607"/>
              <a:ext cx="914400" cy="914400"/>
            </a:xfrm>
            <a:prstGeom prst="rect">
              <a:avLst/>
            </a:prstGeom>
            <a:effectLst>
              <a:glow>
                <a:schemeClr val="tx1"/>
              </a:glow>
            </a:effectLst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E5F1FC5-4E33-BA49-5312-9EF2DCB01FCE}"/>
                </a:ext>
              </a:extLst>
            </p:cNvPr>
            <p:cNvSpPr/>
            <p:nvPr/>
          </p:nvSpPr>
          <p:spPr>
            <a:xfrm>
              <a:off x="2476500" y="732645"/>
              <a:ext cx="4910125" cy="14412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fr-FR" b="1" dirty="0">
                  <a:ln>
                    <a:solidFill>
                      <a:schemeClr val="tx1"/>
                    </a:solidFill>
                  </a:ln>
                  <a:solidFill>
                    <a:srgbClr val="0000FF"/>
                  </a:solidFill>
                </a:rPr>
                <a:t>PROCESS</a:t>
              </a:r>
            </a:p>
            <a:p>
              <a:pPr algn="r"/>
              <a:r>
                <a:rPr lang="en-CA" dirty="0">
                  <a:solidFill>
                    <a:schemeClr val="tx1"/>
                  </a:solidFill>
                </a:rPr>
                <a:t>Thinking about thinking. </a:t>
              </a:r>
            </a:p>
            <a:p>
              <a:pPr algn="r"/>
              <a:r>
                <a:rPr lang="en-CA" dirty="0">
                  <a:solidFill>
                    <a:schemeClr val="tx1"/>
                  </a:solidFill>
                </a:rPr>
                <a:t>What thinking is needed? </a:t>
              </a:r>
            </a:p>
            <a:p>
              <a:pPr algn="r"/>
              <a:r>
                <a:rPr lang="en-CA" dirty="0">
                  <a:solidFill>
                    <a:schemeClr val="tx1"/>
                  </a:solidFill>
                </a:rPr>
                <a:t>Organizing the thinking. </a:t>
              </a:r>
            </a:p>
            <a:p>
              <a:pPr algn="r"/>
              <a:r>
                <a:rPr lang="en-CA" dirty="0">
                  <a:solidFill>
                    <a:schemeClr val="tx1"/>
                  </a:solidFill>
                </a:rPr>
                <a:t>Planning for action.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B8C6E6F-0DD4-61CF-286A-0ADC7F3BE71B}"/>
                </a:ext>
              </a:extLst>
            </p:cNvPr>
            <p:cNvSpPr/>
            <p:nvPr/>
          </p:nvSpPr>
          <p:spPr>
            <a:xfrm>
              <a:off x="9622630" y="732645"/>
              <a:ext cx="2733675" cy="12134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fr-FR" b="1" dirty="0">
                  <a:ln>
                    <a:solidFill>
                      <a:schemeClr val="tx1"/>
                    </a:solidFill>
                  </a:ln>
                  <a:solidFill>
                    <a:schemeClr val="accent6"/>
                  </a:solidFill>
                </a:rPr>
                <a:t>CREATIVITY</a:t>
              </a:r>
            </a:p>
            <a:p>
              <a:r>
                <a:rPr lang="en-CA" dirty="0">
                  <a:solidFill>
                    <a:schemeClr val="tx1"/>
                  </a:solidFill>
                </a:rPr>
                <a:t>Ideas, alternatives, possibilities. Solution to black hat problems.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8CEB0AC-6376-803F-925E-C1066F2EA8C1}"/>
                </a:ext>
              </a:extLst>
            </p:cNvPr>
            <p:cNvSpPr/>
            <p:nvPr/>
          </p:nvSpPr>
          <p:spPr>
            <a:xfrm>
              <a:off x="2797949" y="2993939"/>
              <a:ext cx="4581525" cy="16978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fr-FR" b="1" dirty="0">
                  <a:ln>
                    <a:solidFill>
                      <a:schemeClr val="tx1"/>
                    </a:solidFill>
                  </a:ln>
                  <a:solidFill>
                    <a:schemeClr val="bg1"/>
                  </a:solidFill>
                </a:rPr>
                <a:t>FACTS</a:t>
              </a:r>
            </a:p>
            <a:p>
              <a:pPr algn="r"/>
              <a:r>
                <a:rPr lang="en-CA" dirty="0">
                  <a:solidFill>
                    <a:schemeClr val="tx1"/>
                  </a:solidFill>
                </a:rPr>
                <a:t>Information and data.  Neutral and objective.</a:t>
              </a:r>
            </a:p>
            <a:p>
              <a:pPr algn="r"/>
              <a:r>
                <a:rPr lang="en-CA" dirty="0">
                  <a:solidFill>
                    <a:schemeClr val="tx1"/>
                  </a:solidFill>
                </a:rPr>
                <a:t>What do I know?</a:t>
              </a:r>
            </a:p>
            <a:p>
              <a:pPr algn="r"/>
              <a:r>
                <a:rPr lang="en-CA" dirty="0">
                  <a:solidFill>
                    <a:schemeClr val="tx1"/>
                  </a:solidFill>
                </a:rPr>
                <a:t>What do I need to find out?</a:t>
              </a:r>
            </a:p>
            <a:p>
              <a:pPr algn="r"/>
              <a:r>
                <a:rPr lang="en-CA" dirty="0">
                  <a:solidFill>
                    <a:schemeClr val="tx1"/>
                  </a:solidFill>
                </a:rPr>
                <a:t>How will I get the information I needed?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0AAA37A-45EE-926D-ECC2-39DDBABB28F5}"/>
                </a:ext>
              </a:extLst>
            </p:cNvPr>
            <p:cNvSpPr/>
            <p:nvPr/>
          </p:nvSpPr>
          <p:spPr>
            <a:xfrm>
              <a:off x="9622630" y="2993939"/>
              <a:ext cx="2976562" cy="12737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fr-FR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</a:rPr>
                <a:t>BENEFITS</a:t>
              </a:r>
            </a:p>
            <a:p>
              <a:r>
                <a:rPr lang="en-CA" dirty="0">
                  <a:solidFill>
                    <a:schemeClr val="tx1"/>
                  </a:solidFill>
                </a:rPr>
                <a:t>Positives, plus points.</a:t>
              </a:r>
            </a:p>
            <a:p>
              <a:r>
                <a:rPr lang="en-CA" dirty="0">
                  <a:solidFill>
                    <a:schemeClr val="tx1"/>
                  </a:solidFill>
                </a:rPr>
                <a:t>Why an idea is useful.</a:t>
              </a:r>
            </a:p>
            <a:p>
              <a:r>
                <a:rPr lang="en-CA" dirty="0">
                  <a:solidFill>
                    <a:schemeClr val="tx1"/>
                  </a:solidFill>
                </a:rPr>
                <a:t>Logical reasons are given.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9D9C76E-38E3-E498-5939-59DEC8FBAB78}"/>
                </a:ext>
              </a:extLst>
            </p:cNvPr>
            <p:cNvSpPr/>
            <p:nvPr/>
          </p:nvSpPr>
          <p:spPr>
            <a:xfrm>
              <a:off x="3007499" y="4997409"/>
              <a:ext cx="4371975" cy="14289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fr-FR" b="1" dirty="0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</a:rPr>
                <a:t>FEELINGS</a:t>
              </a:r>
            </a:p>
            <a:p>
              <a:pPr algn="r"/>
              <a:r>
                <a:rPr lang="en-CA" dirty="0">
                  <a:solidFill>
                    <a:schemeClr val="tx1"/>
                  </a:solidFill>
                </a:rPr>
                <a:t>Intuition, hunches, gut instinct.</a:t>
              </a:r>
            </a:p>
            <a:p>
              <a:pPr algn="r"/>
              <a:r>
                <a:rPr lang="en-CA" dirty="0">
                  <a:solidFill>
                    <a:schemeClr val="tx1"/>
                  </a:solidFill>
                </a:rPr>
                <a:t>My feelings right now.</a:t>
              </a:r>
            </a:p>
            <a:p>
              <a:pPr algn="r"/>
              <a:r>
                <a:rPr lang="en-CA" dirty="0">
                  <a:solidFill>
                    <a:schemeClr val="tx1"/>
                  </a:solidFill>
                </a:rPr>
                <a:t>Feelings can change.</a:t>
              </a:r>
            </a:p>
            <a:p>
              <a:pPr algn="r"/>
              <a:r>
                <a:rPr lang="en-CA" dirty="0">
                  <a:solidFill>
                    <a:schemeClr val="tx1"/>
                  </a:solidFill>
                </a:rPr>
                <a:t>No reasons are given.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6A1980E-E248-A0DC-DBBE-8DDFFB542741}"/>
                </a:ext>
              </a:extLst>
            </p:cNvPr>
            <p:cNvSpPr/>
            <p:nvPr/>
          </p:nvSpPr>
          <p:spPr>
            <a:xfrm>
              <a:off x="9622630" y="5039197"/>
              <a:ext cx="3833812" cy="1345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fr-FR" b="1" dirty="0">
                  <a:ln>
                    <a:solidFill>
                      <a:schemeClr val="tx1"/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CAUTIONS</a:t>
              </a:r>
            </a:p>
            <a:p>
              <a:r>
                <a:rPr lang="en-CA" dirty="0">
                  <a:solidFill>
                    <a:schemeClr val="tx1"/>
                  </a:solidFill>
                </a:rPr>
                <a:t>Difficulties, weaknesses, dangers.</a:t>
              </a:r>
            </a:p>
            <a:p>
              <a:r>
                <a:rPr lang="en-CA" dirty="0">
                  <a:solidFill>
                    <a:schemeClr val="tx1"/>
                  </a:solidFill>
                </a:rPr>
                <a:t>Spotting the risks.</a:t>
              </a:r>
            </a:p>
            <a:p>
              <a:r>
                <a:rPr lang="en-CA" dirty="0">
                  <a:solidFill>
                    <a:schemeClr val="tx1"/>
                  </a:solidFill>
                </a:rPr>
                <a:t>Logical reasons are given.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4064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B05D9-DA1C-5849-542D-AC7BF12DD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44E58B-7052-8AA9-036C-B6B0C8678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989841"/>
              </p:ext>
            </p:extLst>
          </p:nvPr>
        </p:nvGraphicFramePr>
        <p:xfrm>
          <a:off x="275771" y="290286"/>
          <a:ext cx="11466288" cy="6284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048">
                  <a:extLst>
                    <a:ext uri="{9D8B030D-6E8A-4147-A177-3AD203B41FA5}">
                      <a16:colId xmlns:a16="http://schemas.microsoft.com/office/drawing/2014/main" val="745484624"/>
                    </a:ext>
                  </a:extLst>
                </a:gridCol>
                <a:gridCol w="1911048">
                  <a:extLst>
                    <a:ext uri="{9D8B030D-6E8A-4147-A177-3AD203B41FA5}">
                      <a16:colId xmlns:a16="http://schemas.microsoft.com/office/drawing/2014/main" val="3743925756"/>
                    </a:ext>
                  </a:extLst>
                </a:gridCol>
                <a:gridCol w="1911048">
                  <a:extLst>
                    <a:ext uri="{9D8B030D-6E8A-4147-A177-3AD203B41FA5}">
                      <a16:colId xmlns:a16="http://schemas.microsoft.com/office/drawing/2014/main" val="397242054"/>
                    </a:ext>
                  </a:extLst>
                </a:gridCol>
                <a:gridCol w="1911048">
                  <a:extLst>
                    <a:ext uri="{9D8B030D-6E8A-4147-A177-3AD203B41FA5}">
                      <a16:colId xmlns:a16="http://schemas.microsoft.com/office/drawing/2014/main" val="1328654070"/>
                    </a:ext>
                  </a:extLst>
                </a:gridCol>
                <a:gridCol w="1911048">
                  <a:extLst>
                    <a:ext uri="{9D8B030D-6E8A-4147-A177-3AD203B41FA5}">
                      <a16:colId xmlns:a16="http://schemas.microsoft.com/office/drawing/2014/main" val="1688873620"/>
                    </a:ext>
                  </a:extLst>
                </a:gridCol>
                <a:gridCol w="1911048">
                  <a:extLst>
                    <a:ext uri="{9D8B030D-6E8A-4147-A177-3AD203B41FA5}">
                      <a16:colId xmlns:a16="http://schemas.microsoft.com/office/drawing/2014/main" val="1922668606"/>
                    </a:ext>
                  </a:extLst>
                </a:gridCol>
              </a:tblGrid>
              <a:tr h="1047448">
                <a:tc>
                  <a:txBody>
                    <a:bodyPr/>
                    <a:lstStyle/>
                    <a:p>
                      <a:pPr algn="ctr"/>
                      <a:r>
                        <a:rPr lang="fr-FR" sz="2000" b="0" dirty="0">
                          <a:solidFill>
                            <a:schemeClr val="bg1"/>
                          </a:solidFill>
                        </a:rPr>
                        <a:t>Univers 1</a:t>
                      </a:r>
                    </a:p>
                    <a:p>
                      <a:pPr algn="ctr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vs</a:t>
                      </a:r>
                    </a:p>
                    <a:p>
                      <a:pPr algn="ctr"/>
                      <a:r>
                        <a:rPr lang="fr-FR" sz="2000" b="0" dirty="0">
                          <a:solidFill>
                            <a:schemeClr val="bg1"/>
                          </a:solidFill>
                        </a:rPr>
                        <a:t>Univers  2</a:t>
                      </a:r>
                      <a:endParaRPr lang="en-CA" sz="2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Variable 1</a:t>
                      </a:r>
                      <a:endParaRPr lang="en-CA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Variable 2</a:t>
                      </a:r>
                      <a:endParaRPr lang="en-CA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Variable 3</a:t>
                      </a:r>
                      <a:endParaRPr lang="en-CA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Variable 4</a:t>
                      </a:r>
                      <a:endParaRPr lang="en-CA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 Variable 5</a:t>
                      </a:r>
                      <a:endParaRPr lang="en-CA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99032"/>
                  </a:ext>
                </a:extLst>
              </a:tr>
              <a:tr h="1047448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Variable A</a:t>
                      </a:r>
                      <a:endParaRPr lang="en-CA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7298143"/>
                  </a:ext>
                </a:extLst>
              </a:tr>
              <a:tr h="1047448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Variable B</a:t>
                      </a:r>
                      <a:endParaRPr lang="en-CA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8130633"/>
                  </a:ext>
                </a:extLst>
              </a:tr>
              <a:tr h="1047448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Variable C</a:t>
                      </a:r>
                      <a:endParaRPr lang="en-CA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984665"/>
                  </a:ext>
                </a:extLst>
              </a:tr>
              <a:tr h="1047448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Variable D</a:t>
                      </a:r>
                      <a:endParaRPr lang="en-CA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018023"/>
                  </a:ext>
                </a:extLst>
              </a:tr>
              <a:tr h="1047448">
                <a:tc>
                  <a:txBody>
                    <a:bodyPr/>
                    <a:lstStyle/>
                    <a:p>
                      <a:pPr algn="ctr"/>
                      <a:r>
                        <a:rPr lang="fr-FR" sz="2000" b="1" dirty="0">
                          <a:solidFill>
                            <a:schemeClr val="bg1"/>
                          </a:solidFill>
                        </a:rPr>
                        <a:t>Variable E</a:t>
                      </a:r>
                      <a:endParaRPr lang="en-CA" sz="20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CA" sz="20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661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2179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9BA2C-198F-6C1E-3A20-2CCB87FFC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F62FA44-22E0-9325-1874-B140B0A17FDF}"/>
              </a:ext>
            </a:extLst>
          </p:cNvPr>
          <p:cNvGrpSpPr/>
          <p:nvPr/>
        </p:nvGrpSpPr>
        <p:grpSpPr>
          <a:xfrm>
            <a:off x="1074057" y="196822"/>
            <a:ext cx="8969420" cy="6047487"/>
            <a:chOff x="1074057" y="196822"/>
            <a:chExt cx="8969420" cy="604748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AEF22B7-251D-6F24-4D81-22CCBCAB34DC}"/>
                </a:ext>
              </a:extLst>
            </p:cNvPr>
            <p:cNvGrpSpPr/>
            <p:nvPr/>
          </p:nvGrpSpPr>
          <p:grpSpPr>
            <a:xfrm>
              <a:off x="2801869" y="613691"/>
              <a:ext cx="7241608" cy="5630618"/>
              <a:chOff x="209321" y="167839"/>
              <a:chExt cx="8388440" cy="652232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1A5F7CE-A615-8FCA-BF56-8942B9EA005E}"/>
                  </a:ext>
                </a:extLst>
              </p:cNvPr>
              <p:cNvSpPr/>
              <p:nvPr/>
            </p:nvSpPr>
            <p:spPr>
              <a:xfrm>
                <a:off x="209322" y="167839"/>
                <a:ext cx="2597239" cy="199479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CA" sz="4000" dirty="0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3871FAE-F2D4-87B2-F142-ED32E247DCC7}"/>
                  </a:ext>
                </a:extLst>
              </p:cNvPr>
              <p:cNvSpPr/>
              <p:nvPr/>
            </p:nvSpPr>
            <p:spPr>
              <a:xfrm>
                <a:off x="209321" y="2431605"/>
                <a:ext cx="2597239" cy="199479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CA" sz="4000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CD6A58F-983B-8364-302F-A88F467C6B8D}"/>
                  </a:ext>
                </a:extLst>
              </p:cNvPr>
              <p:cNvSpPr/>
              <p:nvPr/>
            </p:nvSpPr>
            <p:spPr>
              <a:xfrm>
                <a:off x="209321" y="4695371"/>
                <a:ext cx="2597239" cy="199479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CA" sz="4000" dirty="0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C4AE318-2AB4-1592-2DC4-8D2EC675766E}"/>
                  </a:ext>
                </a:extLst>
              </p:cNvPr>
              <p:cNvSpPr/>
              <p:nvPr/>
            </p:nvSpPr>
            <p:spPr>
              <a:xfrm>
                <a:off x="3104922" y="167839"/>
                <a:ext cx="2597239" cy="199479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CA" sz="4000" dirty="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3DE597A-870C-C66D-4378-A988B269E35F}"/>
                  </a:ext>
                </a:extLst>
              </p:cNvPr>
              <p:cNvSpPr/>
              <p:nvPr/>
            </p:nvSpPr>
            <p:spPr>
              <a:xfrm>
                <a:off x="3104921" y="2431605"/>
                <a:ext cx="2597239" cy="199479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CA" sz="4000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4D0861F-C3E4-F4B7-AB3B-7A4AF796A827}"/>
                  </a:ext>
                </a:extLst>
              </p:cNvPr>
              <p:cNvSpPr/>
              <p:nvPr/>
            </p:nvSpPr>
            <p:spPr>
              <a:xfrm>
                <a:off x="3104921" y="4695371"/>
                <a:ext cx="2597239" cy="199479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CA" sz="4000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2B80738-0BDE-E82D-A8BB-62AD0E625ACC}"/>
                  </a:ext>
                </a:extLst>
              </p:cNvPr>
              <p:cNvSpPr/>
              <p:nvPr/>
            </p:nvSpPr>
            <p:spPr>
              <a:xfrm>
                <a:off x="6000522" y="167839"/>
                <a:ext cx="2597239" cy="199479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CA" sz="400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C2E9B4F-8505-DE69-E3AA-4E956A97092B}"/>
                  </a:ext>
                </a:extLst>
              </p:cNvPr>
              <p:cNvSpPr/>
              <p:nvPr/>
            </p:nvSpPr>
            <p:spPr>
              <a:xfrm>
                <a:off x="6000521" y="2431605"/>
                <a:ext cx="2597239" cy="199479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CA" sz="4000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2DEF8F-197D-843B-C3DA-2F5272448802}"/>
                  </a:ext>
                </a:extLst>
              </p:cNvPr>
              <p:cNvSpPr/>
              <p:nvPr/>
            </p:nvSpPr>
            <p:spPr>
              <a:xfrm>
                <a:off x="6000521" y="4695371"/>
                <a:ext cx="2597239" cy="199479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CA" sz="4000" dirty="0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8C97E4E-8A4F-D7B5-D04D-D701405C7E40}"/>
                </a:ext>
              </a:extLst>
            </p:cNvPr>
            <p:cNvSpPr txBox="1"/>
            <p:nvPr/>
          </p:nvSpPr>
          <p:spPr>
            <a:xfrm>
              <a:off x="2801869" y="196822"/>
              <a:ext cx="22421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b="1" dirty="0">
                  <a:solidFill>
                    <a:schemeClr val="tx1"/>
                  </a:solidFill>
                </a:rPr>
                <a:t>Past</a:t>
              </a:r>
              <a:endParaRPr lang="en-CA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E5DEE73-5B4C-648E-B32E-1C37D2483DF2}"/>
                </a:ext>
              </a:extLst>
            </p:cNvPr>
            <p:cNvSpPr txBox="1"/>
            <p:nvPr/>
          </p:nvSpPr>
          <p:spPr>
            <a:xfrm>
              <a:off x="5301595" y="196822"/>
              <a:ext cx="22421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b="1" dirty="0">
                  <a:solidFill>
                    <a:schemeClr val="tx1"/>
                  </a:solidFill>
                </a:rPr>
                <a:t>Present</a:t>
              </a:r>
              <a:endParaRPr lang="en-CA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050CD3-1E11-5C37-4AEE-4E7666CE5186}"/>
                </a:ext>
              </a:extLst>
            </p:cNvPr>
            <p:cNvSpPr txBox="1"/>
            <p:nvPr/>
          </p:nvSpPr>
          <p:spPr>
            <a:xfrm>
              <a:off x="7801319" y="196822"/>
              <a:ext cx="22421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b="1" dirty="0" err="1">
                  <a:solidFill>
                    <a:schemeClr val="tx1"/>
                  </a:solidFill>
                </a:rPr>
                <a:t>Futur</a:t>
              </a:r>
              <a:endParaRPr lang="en-CA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DC727F5-9A99-994B-2540-AEEFA0E2E090}"/>
                </a:ext>
              </a:extLst>
            </p:cNvPr>
            <p:cNvSpPr txBox="1"/>
            <p:nvPr/>
          </p:nvSpPr>
          <p:spPr>
            <a:xfrm>
              <a:off x="1074057" y="1313913"/>
              <a:ext cx="17278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/>
                <a:t>Super-System</a:t>
              </a:r>
              <a:endParaRPr lang="en-CA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3D2538E-97DD-6516-409C-D16FDFB5D6A3}"/>
                </a:ext>
              </a:extLst>
            </p:cNvPr>
            <p:cNvSpPr txBox="1"/>
            <p:nvPr/>
          </p:nvSpPr>
          <p:spPr>
            <a:xfrm>
              <a:off x="1074057" y="3315724"/>
              <a:ext cx="17278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/>
                <a:t>System</a:t>
              </a:r>
              <a:endParaRPr lang="en-CA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2E6A084-DE9D-50E9-7E97-7BDB8E47B7E0}"/>
                </a:ext>
              </a:extLst>
            </p:cNvPr>
            <p:cNvSpPr txBox="1"/>
            <p:nvPr/>
          </p:nvSpPr>
          <p:spPr>
            <a:xfrm>
              <a:off x="1074057" y="5174755"/>
              <a:ext cx="17278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 err="1"/>
                <a:t>Sub</a:t>
              </a:r>
              <a:r>
                <a:rPr lang="fr-FR" b="1" dirty="0"/>
                <a:t>-System</a:t>
              </a:r>
              <a:endParaRPr lang="en-CA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EED7A4F-F49B-3E84-759B-C47931E804EF}"/>
                </a:ext>
              </a:extLst>
            </p:cNvPr>
            <p:cNvSpPr txBox="1"/>
            <p:nvPr/>
          </p:nvSpPr>
          <p:spPr>
            <a:xfrm>
              <a:off x="5301594" y="3244334"/>
              <a:ext cx="224215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1" dirty="0" err="1"/>
                <a:t>Systems</a:t>
              </a:r>
              <a:r>
                <a:rPr lang="fr-FR" b="1" dirty="0"/>
                <a:t>/</a:t>
              </a:r>
              <a:r>
                <a:rPr lang="fr-FR" b="1" dirty="0" err="1"/>
                <a:t>Problems</a:t>
              </a:r>
              <a:endParaRPr lang="en-CA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167826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E8074-6C3B-326D-7370-5DAE12FC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EA233CE0-61D3-E637-581F-A574F6A2AD27}"/>
              </a:ext>
            </a:extLst>
          </p:cNvPr>
          <p:cNvGrpSpPr/>
          <p:nvPr/>
        </p:nvGrpSpPr>
        <p:grpSpPr>
          <a:xfrm>
            <a:off x="149000" y="2269104"/>
            <a:ext cx="12021970" cy="2366396"/>
            <a:chOff x="148999" y="2269104"/>
            <a:chExt cx="12879167" cy="2535126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E3334EB-04BA-034E-8517-18F9F548BA5E}"/>
                </a:ext>
              </a:extLst>
            </p:cNvPr>
            <p:cNvGrpSpPr/>
            <p:nvPr/>
          </p:nvGrpSpPr>
          <p:grpSpPr>
            <a:xfrm>
              <a:off x="1986444" y="2269104"/>
              <a:ext cx="1854496" cy="2535126"/>
              <a:chOff x="1983034" y="2269104"/>
              <a:chExt cx="1854496" cy="253512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267036E-C77C-B594-BCC4-ED0F68FEBF9C}"/>
                  </a:ext>
                </a:extLst>
              </p:cNvPr>
              <p:cNvSpPr/>
              <p:nvPr/>
            </p:nvSpPr>
            <p:spPr>
              <a:xfrm>
                <a:off x="2374503" y="2269104"/>
                <a:ext cx="1071558" cy="1071558"/>
              </a:xfrm>
              <a:prstGeom prst="rect">
                <a:avLst/>
              </a:prstGeom>
              <a:solidFill>
                <a:srgbClr val="00CC9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8800" b="1" dirty="0"/>
                  <a:t>C</a:t>
                </a:r>
                <a:endParaRPr lang="en-CA" sz="8800" b="1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F3DBEFB-726C-0A72-6FD1-640B81157C4D}"/>
                  </a:ext>
                </a:extLst>
              </p:cNvPr>
              <p:cNvSpPr/>
              <p:nvPr/>
            </p:nvSpPr>
            <p:spPr>
              <a:xfrm>
                <a:off x="1983034" y="3440820"/>
                <a:ext cx="1854496" cy="13634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dirty="0">
                    <a:solidFill>
                      <a:srgbClr val="00CC99"/>
                    </a:solidFill>
                  </a:rPr>
                  <a:t>COMBINE</a:t>
                </a:r>
              </a:p>
              <a:p>
                <a:pPr algn="ctr"/>
                <a:r>
                  <a:rPr lang="en-CA" sz="1400" dirty="0">
                    <a:solidFill>
                      <a:schemeClr val="tx1"/>
                    </a:solidFill>
                  </a:rPr>
                  <a:t>Join elements, ideas, or functions together in new ways – or find a new element you can merge with.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CA9321E-0DA9-F2C5-28AA-48A72CBF6177}"/>
                </a:ext>
              </a:extLst>
            </p:cNvPr>
            <p:cNvGrpSpPr/>
            <p:nvPr/>
          </p:nvGrpSpPr>
          <p:grpSpPr>
            <a:xfrm>
              <a:off x="3823889" y="2269104"/>
              <a:ext cx="1854496" cy="2535126"/>
              <a:chOff x="3817069" y="2269104"/>
              <a:chExt cx="1854496" cy="2535126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324BAFE9-3A77-B2BA-22B7-4410A818BE1C}"/>
                  </a:ext>
                </a:extLst>
              </p:cNvPr>
              <p:cNvSpPr/>
              <p:nvPr/>
            </p:nvSpPr>
            <p:spPr>
              <a:xfrm>
                <a:off x="4208537" y="2269104"/>
                <a:ext cx="1071558" cy="1071558"/>
              </a:xfrm>
              <a:prstGeom prst="rect">
                <a:avLst/>
              </a:prstGeom>
              <a:solidFill>
                <a:srgbClr val="CCFF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8800" b="1" dirty="0"/>
                  <a:t>A</a:t>
                </a:r>
                <a:endParaRPr lang="en-CA" sz="8800" b="1" dirty="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5D835EA-1CFC-617E-4465-488447A02FDC}"/>
                  </a:ext>
                </a:extLst>
              </p:cNvPr>
              <p:cNvSpPr/>
              <p:nvPr/>
            </p:nvSpPr>
            <p:spPr>
              <a:xfrm>
                <a:off x="3817069" y="3440820"/>
                <a:ext cx="1854496" cy="13634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dirty="0">
                    <a:solidFill>
                      <a:srgbClr val="CCFF33"/>
                    </a:solidFill>
                  </a:rPr>
                  <a:t>ADAPT</a:t>
                </a:r>
              </a:p>
              <a:p>
                <a:pPr algn="ctr"/>
                <a:r>
                  <a:rPr lang="en-CA" sz="1400" dirty="0">
                    <a:solidFill>
                      <a:schemeClr val="tx1"/>
                    </a:solidFill>
                  </a:rPr>
                  <a:t>Modify something to better suit a new purpose, person or context.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3D439D7-F550-5669-9A6E-B667D2C8C4F4}"/>
                </a:ext>
              </a:extLst>
            </p:cNvPr>
            <p:cNvGrpSpPr/>
            <p:nvPr/>
          </p:nvGrpSpPr>
          <p:grpSpPr>
            <a:xfrm>
              <a:off x="5661334" y="2269106"/>
              <a:ext cx="1854496" cy="2535124"/>
              <a:chOff x="5651104" y="2269106"/>
              <a:chExt cx="1854496" cy="253512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4D96AAD-394C-FE73-CCC0-2C27EE34F112}"/>
                  </a:ext>
                </a:extLst>
              </p:cNvPr>
              <p:cNvSpPr/>
              <p:nvPr/>
            </p:nvSpPr>
            <p:spPr>
              <a:xfrm>
                <a:off x="6042572" y="2269106"/>
                <a:ext cx="1071558" cy="107155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8800" b="1" dirty="0"/>
                  <a:t>M</a:t>
                </a:r>
                <a:endParaRPr lang="en-CA" sz="8800" b="1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E8C365F-5692-A3B8-E9F3-739E3B5230F6}"/>
                  </a:ext>
                </a:extLst>
              </p:cNvPr>
              <p:cNvSpPr/>
              <p:nvPr/>
            </p:nvSpPr>
            <p:spPr>
              <a:xfrm>
                <a:off x="5651104" y="3440820"/>
                <a:ext cx="1854496" cy="13634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dirty="0">
                    <a:solidFill>
                      <a:schemeClr val="accent2"/>
                    </a:solidFill>
                  </a:rPr>
                  <a:t>MODIFY</a:t>
                </a:r>
              </a:p>
              <a:p>
                <a:pPr algn="ctr"/>
                <a:r>
                  <a:rPr lang="en-CA" sz="1400" dirty="0">
                    <a:solidFill>
                      <a:schemeClr val="tx1"/>
                    </a:solidFill>
                  </a:rPr>
                  <a:t>Enlarge, reduce, change the shape, or alter attributes. Can a small change have a big effect?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9AB71E9-6F7F-177B-9ED1-6F1C7D0CC455}"/>
                </a:ext>
              </a:extLst>
            </p:cNvPr>
            <p:cNvGrpSpPr/>
            <p:nvPr/>
          </p:nvGrpSpPr>
          <p:grpSpPr>
            <a:xfrm>
              <a:off x="7498779" y="2269106"/>
              <a:ext cx="1854496" cy="2535124"/>
              <a:chOff x="7464678" y="2269106"/>
              <a:chExt cx="1854496" cy="253512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FCFA6F3-E524-C413-803A-C0D8540812C7}"/>
                  </a:ext>
                </a:extLst>
              </p:cNvPr>
              <p:cNvSpPr/>
              <p:nvPr/>
            </p:nvSpPr>
            <p:spPr>
              <a:xfrm>
                <a:off x="7856146" y="2269106"/>
                <a:ext cx="1071558" cy="107155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8800" b="1" dirty="0"/>
                  <a:t>P</a:t>
                </a:r>
                <a:endParaRPr lang="en-CA" sz="8800" b="1" dirty="0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9267A73-7F6A-A05C-A1E9-8BE361A31C94}"/>
                  </a:ext>
                </a:extLst>
              </p:cNvPr>
              <p:cNvSpPr/>
              <p:nvPr/>
            </p:nvSpPr>
            <p:spPr>
              <a:xfrm>
                <a:off x="7464678" y="3440820"/>
                <a:ext cx="1854496" cy="13634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dirty="0">
                    <a:solidFill>
                      <a:srgbClr val="C00000"/>
                    </a:solidFill>
                  </a:rPr>
                  <a:t>PUT to </a:t>
                </a:r>
                <a:r>
                  <a:rPr lang="fr-FR" sz="1400" b="1" dirty="0" err="1">
                    <a:solidFill>
                      <a:srgbClr val="C00000"/>
                    </a:solidFill>
                  </a:rPr>
                  <a:t>another</a:t>
                </a:r>
                <a:r>
                  <a:rPr lang="fr-FR" sz="1400" b="1" dirty="0">
                    <a:solidFill>
                      <a:srgbClr val="C00000"/>
                    </a:solidFill>
                  </a:rPr>
                  <a:t> use</a:t>
                </a:r>
              </a:p>
              <a:p>
                <a:pPr algn="ctr"/>
                <a:r>
                  <a:rPr lang="en-CA" sz="1400" dirty="0">
                    <a:solidFill>
                      <a:schemeClr val="tx1"/>
                    </a:solidFill>
                  </a:rPr>
                  <a:t>Rather than changing the thing itself, consider changing the context it exists in.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E84DF39-315F-E8ED-BAD8-16AA788A45E7}"/>
                </a:ext>
              </a:extLst>
            </p:cNvPr>
            <p:cNvGrpSpPr/>
            <p:nvPr/>
          </p:nvGrpSpPr>
          <p:grpSpPr>
            <a:xfrm>
              <a:off x="9336224" y="2269106"/>
              <a:ext cx="1854496" cy="2535124"/>
              <a:chOff x="9319174" y="2269106"/>
              <a:chExt cx="1854496" cy="253512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F9174E9-5DD5-AC8F-7DA4-DD5908A487EE}"/>
                  </a:ext>
                </a:extLst>
              </p:cNvPr>
              <p:cNvSpPr/>
              <p:nvPr/>
            </p:nvSpPr>
            <p:spPr>
              <a:xfrm>
                <a:off x="9710642" y="2269106"/>
                <a:ext cx="1071558" cy="1071558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8800" b="1" dirty="0"/>
                  <a:t>E</a:t>
                </a:r>
                <a:endParaRPr lang="en-CA" sz="8800" b="1" dirty="0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14A7260-E775-90F2-981A-B9983A3910F5}"/>
                  </a:ext>
                </a:extLst>
              </p:cNvPr>
              <p:cNvSpPr/>
              <p:nvPr/>
            </p:nvSpPr>
            <p:spPr>
              <a:xfrm>
                <a:off x="9319174" y="3440820"/>
                <a:ext cx="1854496" cy="13634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dirty="0">
                    <a:solidFill>
                      <a:schemeClr val="accent6"/>
                    </a:solidFill>
                  </a:rPr>
                  <a:t>ELIMINATE</a:t>
                </a:r>
              </a:p>
              <a:p>
                <a:pPr algn="ctr"/>
                <a:r>
                  <a:rPr lang="en-CA" sz="1400" dirty="0">
                    <a:solidFill>
                      <a:schemeClr val="tx1"/>
                    </a:solidFill>
                  </a:rPr>
                  <a:t>Remove elements. Simplify, or pare down to essentials.</a:t>
                </a:r>
              </a:p>
              <a:p>
                <a:pPr algn="ctr"/>
                <a:r>
                  <a:rPr lang="en-CA" sz="1400" dirty="0">
                    <a:solidFill>
                      <a:schemeClr val="tx1"/>
                    </a:solidFill>
                  </a:rPr>
                  <a:t>Is less more?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688E47B-4D18-D174-D463-E4577CA56E28}"/>
                </a:ext>
              </a:extLst>
            </p:cNvPr>
            <p:cNvGrpSpPr/>
            <p:nvPr/>
          </p:nvGrpSpPr>
          <p:grpSpPr>
            <a:xfrm>
              <a:off x="11173670" y="2269106"/>
              <a:ext cx="1854496" cy="2535124"/>
              <a:chOff x="11173670" y="2269106"/>
              <a:chExt cx="1854496" cy="2535124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6062D69-4744-EDCB-79F1-91D7519EC4A4}"/>
                  </a:ext>
                </a:extLst>
              </p:cNvPr>
              <p:cNvSpPr/>
              <p:nvPr/>
            </p:nvSpPr>
            <p:spPr>
              <a:xfrm>
                <a:off x="11565138" y="2269106"/>
                <a:ext cx="1071558" cy="107155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8800" b="1" dirty="0"/>
                  <a:t>R</a:t>
                </a:r>
                <a:endParaRPr lang="en-CA" sz="8800" b="1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B2D4A7A-AA93-E90E-08A8-FE767928156A}"/>
                  </a:ext>
                </a:extLst>
              </p:cNvPr>
              <p:cNvSpPr/>
              <p:nvPr/>
            </p:nvSpPr>
            <p:spPr>
              <a:xfrm>
                <a:off x="11173670" y="3440820"/>
                <a:ext cx="1854496" cy="13634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dirty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rPr>
                  <a:t>REVERSE</a:t>
                </a:r>
              </a:p>
              <a:p>
                <a:pPr algn="ctr"/>
                <a:r>
                  <a:rPr lang="en-CA" sz="1400" dirty="0">
                    <a:solidFill>
                      <a:schemeClr val="tx1"/>
                    </a:solidFill>
                  </a:rPr>
                  <a:t>Flip the script, re-order your priorities, invert cause and effect, and turn it all upside-down.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1E6C08B-CF42-9D05-5135-C57DB910120D}"/>
                </a:ext>
              </a:extLst>
            </p:cNvPr>
            <p:cNvGrpSpPr/>
            <p:nvPr/>
          </p:nvGrpSpPr>
          <p:grpSpPr>
            <a:xfrm>
              <a:off x="148999" y="2269105"/>
              <a:ext cx="1854496" cy="2535125"/>
              <a:chOff x="148999" y="2269105"/>
              <a:chExt cx="1854496" cy="2535125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4870C0B-9023-F7A9-2285-E53C4E57DC0A}"/>
                  </a:ext>
                </a:extLst>
              </p:cNvPr>
              <p:cNvSpPr/>
              <p:nvPr/>
            </p:nvSpPr>
            <p:spPr>
              <a:xfrm>
                <a:off x="540468" y="2269105"/>
                <a:ext cx="1071558" cy="1071558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8000" b="1" dirty="0"/>
                  <a:t>S</a:t>
                </a:r>
                <a:endParaRPr lang="en-CA" sz="8000" b="1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32ECE39-4D47-7A73-7143-74C0DC327C45}"/>
                  </a:ext>
                </a:extLst>
              </p:cNvPr>
              <p:cNvSpPr/>
              <p:nvPr/>
            </p:nvSpPr>
            <p:spPr>
              <a:xfrm>
                <a:off x="148999" y="3440820"/>
                <a:ext cx="1854496" cy="13634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dirty="0">
                    <a:solidFill>
                      <a:srgbClr val="0000FF"/>
                    </a:solidFill>
                  </a:rPr>
                  <a:t>SUBSTITUTE</a:t>
                </a:r>
              </a:p>
              <a:p>
                <a:pPr algn="ctr"/>
                <a:r>
                  <a:rPr lang="en-CA" sz="1400" dirty="0">
                    <a:solidFill>
                      <a:schemeClr val="tx1"/>
                    </a:solidFill>
                  </a:rPr>
                  <a:t>Replace a part, material, or process with something else.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76528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427</Words>
  <Application>Microsoft Office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Maxime DANIEL</dc:creator>
  <cp:lastModifiedBy>Maxime DANIEL</cp:lastModifiedBy>
  <cp:revision>13</cp:revision>
  <dcterms:created xsi:type="dcterms:W3CDTF">2025-11-24T16:26:32Z</dcterms:created>
  <dcterms:modified xsi:type="dcterms:W3CDTF">2026-01-12T17:54:30Z</dcterms:modified>
</cp:coreProperties>
</file>