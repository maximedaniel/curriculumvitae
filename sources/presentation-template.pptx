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590" r:id="rId2"/>
    <p:sldId id="595" r:id="rId3"/>
    <p:sldId id="596" r:id="rId4"/>
    <p:sldId id="597" r:id="rId5"/>
    <p:sldId id="592" r:id="rId6"/>
    <p:sldId id="598" r:id="rId7"/>
    <p:sldId id="594" r:id="rId8"/>
    <p:sldId id="593" r:id="rId9"/>
    <p:sldId id="600" r:id="rId10"/>
    <p:sldId id="601" r:id="rId11"/>
    <p:sldId id="602" r:id="rId12"/>
    <p:sldId id="5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76652-EE61-4960-BE86-C6A1D8AACCFD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964F2-8852-44EE-A494-CB847C27C6A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685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F40B-67D1-A0CA-B624-8C92B8C0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AA5A2DF-6215-CB5E-F69A-D15E0574E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2133DA-219C-AEDC-CC02-0F99BBA32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45AEB5-76B3-2341-3B45-CF4472479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8219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18E7-34D0-A6C7-A8B5-3E5EA391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BBA8E0-1A26-DFCD-7B85-F02E5D53E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C14FA8-FFB5-23DF-A854-978B1B64F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745EA0-4F0E-BD2B-A774-D2ABF0FF3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8071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9783-B873-9293-6798-E3153DCD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8808FB-C333-9AE4-4D6A-8638217DF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DDC924-BB23-2B24-062E-D13F591AB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BA7468-80CA-7171-A920-E9674575F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6650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F2CA-EE87-010E-DC47-2E66573D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06DFEB1-2953-D465-ECF1-7E72984D8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C9F0CE-8555-488D-1821-1D061DAB3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7BBBDD-111F-102C-D423-6F389B721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1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90E5B-D740-87BA-D790-09950434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3F7A3C-09C4-A3C1-8A77-8B9500DA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1EA390-397B-0FD4-A328-C83E5F555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462F32-1515-613A-86D8-0AE279F73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13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0C16-31B2-A663-9687-F16AEAC5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056A2E-E504-89AC-1454-437689022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DA6820-6295-B1F5-954B-F658044EA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46FF22-AFA8-3C83-C4E0-A185CD31E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023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5678-90DE-7FCC-A4C7-E9E5667E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8D430D-30FD-D780-3E9C-7AAC35CB0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996804-395C-25FE-F10B-67B9738CB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CAB5D9-1252-9ECF-DB65-1DF2F6AC4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2731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3A92-B3F2-BDDF-00AB-8241E982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0C4023-9E5A-4FD3-3424-FFB91E723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5C21CB-C491-DA8F-092B-813F1C208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B95FD4-B7D1-8DEF-352B-D966F28A5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95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DF75-2E1A-2FF5-C99C-ECC579C1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C28E731-BC9E-3D50-E722-226250792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056751-AC59-1B92-3ECB-B5E5DD18C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1285F0-0406-C4C7-664B-6E8DEFE06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92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D8E4-103D-E649-B7E4-CE940053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0C9C14-A684-C8B1-1B00-E890C7352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09E050-17AD-DF45-57E1-863990908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D05037-8D43-9617-F6B0-636F221B0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7605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AF0E-A4F4-3C78-0867-641A0B37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3A1592-4BC5-1606-2594-E380FC7C5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64A2F0-F313-CA0A-BDE4-A13B1BD00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5C25F3-D3AA-54FE-073D-F53BEB259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4112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3EFC-EC97-3F49-D9F4-70ED0D1A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F9720C-72F3-BF3E-B431-9F00515E7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62E7CD9-D803-3501-D929-5B2671A89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D8FF33-7C2C-E34A-DF92-5F40E705F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7DB90-2035-41B3-83A3-D2511EC9528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617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1436-1155-0F8F-B555-32562DE87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34356-2FAD-8A28-D781-0898F5762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6805B-57EA-5329-74DF-525832BB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49EC-162E-BF9A-91D2-A4824D98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086AC-8697-9D3D-F3BA-582FB490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81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DEF0-49AA-CCF0-0946-087659D3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D6D26-FCA8-8B48-EA73-4EF3955CA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A2BDE-CDEA-4BDC-248C-5181FAF6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D9F0C-2CE6-C7AA-1505-F4C8D8E1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B1D6C-41D5-FCED-C2CC-530A71AB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54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15AF-2AE5-4AA5-BA9E-A0F11611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0DFD4-90B7-0B93-47DB-A41448B27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5049-112C-AB86-2257-F90BABBA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54BD7-61BA-EA4F-7875-4FE57EA2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034C-C634-3CC2-E975-82B60CB3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115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0F49-6D6B-FF68-1EF2-3996A2A5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A5DB-3782-1AC4-C752-40E37EFBE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2D968-CEDB-B020-ACCE-5FD77FD21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EFD99-32F2-5792-4A0B-39143E00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CA2CA-FA50-41E2-D988-C5439B1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1414B-73B6-1246-FDA3-CB70CF8E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681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F1-A9F4-C732-0034-98ED5184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44463-EAEA-A3A1-A978-E64DAF2A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30FE2-B25E-AEC2-9CD1-D5E7EC914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E0B3E-2B44-508B-40FC-CABAC9903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F6FC0-B0A2-5DDF-8101-620246A57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17645-F09E-2B83-3989-E5422B51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010CC-FC59-F5BC-8CB5-E70587EB9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F1CFA-15B4-97B7-12B0-70F94755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47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D9F9-4199-5154-E7C6-8E6B19D2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0679C-71B6-79D2-E383-EE984941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AA3B3-D550-EACF-A3ED-B02E4CCD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93E24-9E12-3EF7-4635-98FE2080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829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14807-632D-325D-B3F0-F5CE26C3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3160B-BE9E-FB36-C182-28B4917B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90F15-C5A9-F746-F9B9-6D107335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371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66BE-F5F3-0727-093C-7413170C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C20E-DB36-52A1-7AEE-C0B48D522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E6561-8215-D40B-00F7-B73BE880E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9E504-9600-E1F7-779C-A72736E0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A38F0-6131-C8D5-7E40-E2250142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E53C5-0408-8436-5FFF-F0CB936C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134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4532-F562-367C-7120-E74AA407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4440D-86AA-EC51-2523-6C86330206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2DDB3-983E-7D5E-AE48-BF76D4D60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BF2D0-F49F-019A-A7A5-F2753F4E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497D9-C50F-F81D-CCB6-C9F4E28D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4A85E-B34A-BD95-084B-E2B662A2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358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4A35-B4BA-5E28-AEBD-C55A7360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E6671-1FEC-B966-C707-2699549DE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BD35-5FA5-61AB-DC8D-D33D8D89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2E26-9833-7483-B4A8-8F75A5FE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38A37-D8ED-0957-76E6-5F3CE8F2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84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1D535-5E13-7680-700F-5E50972C7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994D1-A1B3-E78F-4CC7-D63194F5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34703-90C7-44E1-C9C7-FF417E03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5B6E3-5F1F-43DC-BD76-6F40EE08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10CE-88F8-EEB5-ACE7-84CB3A3E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509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A7CCE-B039-7A72-3DF0-FA245A7B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5C13-C1C0-6A26-6546-F81C2DE6E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64C4-7E8F-8D36-5AF4-6D934CD72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3795A-B605-4D74-AD2D-D90FC82C03F2}" type="datetimeFigureOut">
              <a:rPr lang="en-CA" smtClean="0"/>
              <a:t>2026-10-07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CA38-E515-5557-D473-F9A71AC4A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E9D5-7FF2-454D-CBC6-1C02993C0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32A70-60FF-43EB-91D0-D27FC676C3D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817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FE453-6007-569A-2DBA-DE62170D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F49E0AD2-A9AD-323D-8508-93A0324567AE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3225132D-37C6-D40C-F525-4B2339CBFC3A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B0A08-43DB-94AC-E72D-1FFDE03CBCF6}"/>
              </a:ext>
            </a:extLst>
          </p:cNvPr>
          <p:cNvSpPr txBox="1"/>
          <p:nvPr/>
        </p:nvSpPr>
        <p:spPr>
          <a:xfrm>
            <a:off x="1952582" y="4854948"/>
            <a:ext cx="82886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&lt;prototype name&gt; : &lt;what does it let people do, or what does the paper show&gt;</a:t>
            </a:r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6A0A4789-BE5B-A57B-CDE2-5BABE040D5ED}"/>
              </a:ext>
            </a:extLst>
          </p:cNvPr>
          <p:cNvSpPr txBox="1">
            <a:spLocks/>
          </p:cNvSpPr>
          <p:nvPr/>
        </p:nvSpPr>
        <p:spPr>
          <a:xfrm>
            <a:off x="2471416" y="5896950"/>
            <a:ext cx="7240476" cy="9566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CA" sz="1800" b="1" dirty="0"/>
              <a:t>&lt;author1&gt;</a:t>
            </a:r>
            <a:r>
              <a:rPr lang="en-CA" sz="1800" dirty="0"/>
              <a:t>¹, &lt;author2&gt;², &lt;author3&gt;²</a:t>
            </a:r>
          </a:p>
          <a:p>
            <a:pPr marL="0" indent="0" algn="ctr">
              <a:buNone/>
            </a:pPr>
            <a:r>
              <a:rPr lang="en-CA" sz="1600" dirty="0"/>
              <a:t>¹</a:t>
            </a:r>
            <a:r>
              <a:rPr lang="en-CA" sz="1600" i="1" dirty="0"/>
              <a:t>Univ. Bordeaux, ESTIA Institute of Technology, </a:t>
            </a:r>
            <a:r>
              <a:rPr lang="en-CA" sz="1600" i="1" dirty="0" err="1"/>
              <a:t>EstiaR</a:t>
            </a:r>
            <a:r>
              <a:rPr lang="en-CA" sz="1600" i="1" dirty="0"/>
              <a:t> (Bidart, France)</a:t>
            </a:r>
            <a:br>
              <a:rPr lang="en-CA" sz="1600" i="1" dirty="0"/>
            </a:br>
            <a:r>
              <a:rPr lang="en-CA" sz="1600" dirty="0"/>
              <a:t>²</a:t>
            </a:r>
            <a:r>
              <a:rPr lang="en-CA" sz="1600" i="1" dirty="0"/>
              <a:t>University of British Columbia, Okanagan (Kelowna, British Columbia, Canada)</a:t>
            </a:r>
            <a:endParaRPr lang="en-CA" sz="1600" b="1" i="1" dirty="0">
              <a:effectLst>
                <a:glow>
                  <a:schemeClr val="tx1"/>
                </a:glo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72D1AE-0984-78CF-766F-50001957E122}"/>
              </a:ext>
            </a:extLst>
          </p:cNvPr>
          <p:cNvSpPr/>
          <p:nvPr/>
        </p:nvSpPr>
        <p:spPr>
          <a:xfrm>
            <a:off x="0" y="-1"/>
            <a:ext cx="12192000" cy="4787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&lt;teaser image/video&gt;</a:t>
            </a:r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64A3319-5718-8B1D-0FB7-1AA0079D39CE}"/>
              </a:ext>
            </a:extLst>
          </p:cNvPr>
          <p:cNvGrpSpPr/>
          <p:nvPr/>
        </p:nvGrpSpPr>
        <p:grpSpPr>
          <a:xfrm>
            <a:off x="79203" y="5708681"/>
            <a:ext cx="2346234" cy="1073418"/>
            <a:chOff x="98114" y="5553069"/>
            <a:chExt cx="2621281" cy="11992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5709F9-1533-DE59-EB93-31C82EF06A77}"/>
                </a:ext>
              </a:extLst>
            </p:cNvPr>
            <p:cNvSpPr/>
            <p:nvPr/>
          </p:nvSpPr>
          <p:spPr>
            <a:xfrm>
              <a:off x="98114" y="5553069"/>
              <a:ext cx="1262049" cy="1199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&lt;</a:t>
              </a:r>
              <a:r>
                <a:rPr lang="fr-FR" dirty="0" err="1">
                  <a:solidFill>
                    <a:schemeClr val="tx1"/>
                  </a:solidFill>
                </a:rPr>
                <a:t>institute</a:t>
              </a:r>
              <a:r>
                <a:rPr lang="fr-FR" dirty="0">
                  <a:solidFill>
                    <a:schemeClr val="tx1"/>
                  </a:solidFill>
                </a:rPr>
                <a:t> logo 1&gt;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4E19C0-4E1C-5172-6E84-9FB2E88006D3}"/>
                </a:ext>
              </a:extLst>
            </p:cNvPr>
            <p:cNvSpPr/>
            <p:nvPr/>
          </p:nvSpPr>
          <p:spPr>
            <a:xfrm>
              <a:off x="1457346" y="5553069"/>
              <a:ext cx="1262049" cy="1199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&lt;</a:t>
              </a:r>
              <a:r>
                <a:rPr lang="fr-FR" dirty="0" err="1">
                  <a:solidFill>
                    <a:schemeClr val="tx1"/>
                  </a:solidFill>
                </a:rPr>
                <a:t>institute</a:t>
              </a:r>
              <a:r>
                <a:rPr lang="fr-FR" dirty="0">
                  <a:solidFill>
                    <a:schemeClr val="tx1"/>
                  </a:solidFill>
                </a:rPr>
                <a:t> logo 2&gt;</a:t>
              </a:r>
              <a:endParaRPr lang="en-CA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329F849-6040-15FA-5B15-313710D96735}"/>
              </a:ext>
            </a:extLst>
          </p:cNvPr>
          <p:cNvGrpSpPr/>
          <p:nvPr/>
        </p:nvGrpSpPr>
        <p:grpSpPr>
          <a:xfrm>
            <a:off x="9840767" y="5708681"/>
            <a:ext cx="2288536" cy="1073418"/>
            <a:chOff x="9649792" y="5553069"/>
            <a:chExt cx="2629767" cy="119925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28DF20F-4B9E-6DC9-2643-B94A8A2061F2}"/>
                </a:ext>
              </a:extLst>
            </p:cNvPr>
            <p:cNvSpPr/>
            <p:nvPr/>
          </p:nvSpPr>
          <p:spPr>
            <a:xfrm>
              <a:off x="9649792" y="5553069"/>
              <a:ext cx="1262049" cy="1199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&lt;</a:t>
              </a:r>
              <a:r>
                <a:rPr lang="fr-FR" dirty="0" err="1">
                  <a:solidFill>
                    <a:schemeClr val="tx1"/>
                  </a:solidFill>
                </a:rPr>
                <a:t>funding</a:t>
              </a:r>
              <a:r>
                <a:rPr lang="fr-FR" dirty="0">
                  <a:solidFill>
                    <a:schemeClr val="tx1"/>
                  </a:solidFill>
                </a:rPr>
                <a:t> logo 1&gt;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AE3D3B-CE84-BE07-E74D-4203DBA9F49D}"/>
                </a:ext>
              </a:extLst>
            </p:cNvPr>
            <p:cNvSpPr/>
            <p:nvPr/>
          </p:nvSpPr>
          <p:spPr>
            <a:xfrm>
              <a:off x="11017510" y="5553069"/>
              <a:ext cx="1262049" cy="11992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&lt;</a:t>
              </a:r>
              <a:r>
                <a:rPr lang="fr-FR" dirty="0" err="1">
                  <a:solidFill>
                    <a:schemeClr val="tx1"/>
                  </a:solidFill>
                </a:rPr>
                <a:t>funding</a:t>
              </a:r>
              <a:r>
                <a:rPr lang="fr-FR" dirty="0">
                  <a:solidFill>
                    <a:schemeClr val="tx1"/>
                  </a:solidFill>
                </a:rPr>
                <a:t> logo 2&gt;</a:t>
              </a:r>
              <a:endParaRPr lang="en-CA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000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9CA9C-C98C-701E-BFD0-3D452D68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D04AB290-DC10-7DDD-5E2F-A677B7CA6995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4E8711D6-8D0A-4FF6-DF8B-CDFF698F97B4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A17AB1-D0CE-4ADE-FE1D-74E3E18B03CE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Motivation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context?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06D51B05-26F7-F28C-1F20-723C0670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453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0DF2-1024-F6E4-DCA3-09213BDD6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4EE36730-C888-C958-0813-4A3848BE2B1C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E463A20B-4E60-B8C0-8A72-A2A068F22549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B1BB90-6EC3-EF4A-A576-54A659D17A1C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Motivation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problem?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64DCF6F8-BAE7-9E09-DF0C-009412C5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84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C610-2CE0-1ABE-9457-1B26014B1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A91635EE-7F85-0424-D443-625CED98630C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813B1B94-8CA6-7BEF-1615-C111DA2A5967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4C4DE-38A0-D800-6E93-0CE1ABACBBC1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Motivation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does it matter to solve it?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9B8E2F78-7F38-31AE-05E4-7105A76A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84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9CAD-292F-C0FF-3C81-641CB5AB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06EFE5F5-09B1-AF8C-03DE-864DA8EB00A3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554A2640-68DD-BB8D-BB74-C37436DD7F3E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F8D96E-3837-A2A7-716C-CDCF0B3E82AD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Background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are the previous works related to this problem?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E2517516-3BD6-863B-DFB2-608CA754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5</a:t>
            </a:fld>
            <a:endParaRPr lang="en-CA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5DCDDD-BBAA-3C96-4455-6048DF0FE315}"/>
              </a:ext>
            </a:extLst>
          </p:cNvPr>
          <p:cNvGrpSpPr/>
          <p:nvPr/>
        </p:nvGrpSpPr>
        <p:grpSpPr>
          <a:xfrm>
            <a:off x="551759" y="1748063"/>
            <a:ext cx="11088482" cy="3361875"/>
            <a:chOff x="542136" y="1748062"/>
            <a:chExt cx="11088482" cy="336187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B4B401-9DE6-3273-F259-5DE7E6FC1440}"/>
                </a:ext>
              </a:extLst>
            </p:cNvPr>
            <p:cNvGrpSpPr/>
            <p:nvPr/>
          </p:nvGrpSpPr>
          <p:grpSpPr>
            <a:xfrm>
              <a:off x="542136" y="1748063"/>
              <a:ext cx="3510102" cy="3361874"/>
              <a:chOff x="551759" y="1824314"/>
              <a:chExt cx="3510102" cy="336187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27D5C7F-7C6A-B2B4-318F-0DD94506E0A4}"/>
                  </a:ext>
                </a:extLst>
              </p:cNvPr>
              <p:cNvSpPr/>
              <p:nvPr/>
            </p:nvSpPr>
            <p:spPr>
              <a:xfrm>
                <a:off x="866507" y="1824314"/>
                <a:ext cx="2880606" cy="27771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&lt;image/video&gt;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9F85CE-15DB-4C4D-A060-E6F5EAB0A3FD}"/>
                  </a:ext>
                </a:extLst>
              </p:cNvPr>
              <p:cNvSpPr txBox="1"/>
              <p:nvPr/>
            </p:nvSpPr>
            <p:spPr>
              <a:xfrm>
                <a:off x="551759" y="4601413"/>
                <a:ext cx="351010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CA" dirty="0"/>
                  <a:t>&lt;Prototype name&gt;</a:t>
                </a:r>
                <a:endParaRPr lang="en-CA" sz="1800" dirty="0"/>
              </a:p>
              <a:p>
                <a:pPr marL="0" indent="0" algn="ctr">
                  <a:buNone/>
                </a:pPr>
                <a:r>
                  <a:rPr lang="en-CA" sz="1400" dirty="0"/>
                  <a:t>[&lt;last name of first author&gt; </a:t>
                </a:r>
                <a:r>
                  <a:rPr lang="en-CA" sz="1400" i="1" dirty="0"/>
                  <a:t>et al.</a:t>
                </a:r>
                <a:r>
                  <a:rPr lang="en-CA" sz="1400" dirty="0"/>
                  <a:t>, &lt;year&gt;]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83F26B9-E4E0-69AF-8084-B27FA43A4D66}"/>
                </a:ext>
              </a:extLst>
            </p:cNvPr>
            <p:cNvGrpSpPr/>
            <p:nvPr/>
          </p:nvGrpSpPr>
          <p:grpSpPr>
            <a:xfrm>
              <a:off x="4289663" y="1748062"/>
              <a:ext cx="3593430" cy="3361875"/>
              <a:chOff x="3679409" y="1824314"/>
              <a:chExt cx="3593430" cy="336187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5A3F47-E3B9-735E-6D83-770BD19DD977}"/>
                  </a:ext>
                </a:extLst>
              </p:cNvPr>
              <p:cNvSpPr/>
              <p:nvPr/>
            </p:nvSpPr>
            <p:spPr>
              <a:xfrm>
                <a:off x="4035821" y="1824314"/>
                <a:ext cx="2880606" cy="27771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&lt;image/video&gt;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7FE39E-3E67-160E-D140-D2273F8EDFF2}"/>
                  </a:ext>
                </a:extLst>
              </p:cNvPr>
              <p:cNvSpPr txBox="1"/>
              <p:nvPr/>
            </p:nvSpPr>
            <p:spPr>
              <a:xfrm>
                <a:off x="3679409" y="4601414"/>
                <a:ext cx="359343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CA" dirty="0"/>
                  <a:t>&lt;Prototype name&gt;</a:t>
                </a:r>
                <a:endParaRPr lang="en-CA" sz="1800" dirty="0"/>
              </a:p>
              <a:p>
                <a:pPr marL="0" indent="0" algn="ctr">
                  <a:buNone/>
                </a:pPr>
                <a:r>
                  <a:rPr lang="en-CA" sz="1400" dirty="0"/>
                  <a:t>[&lt;last name of first author&gt; </a:t>
                </a:r>
                <a:r>
                  <a:rPr lang="en-CA" sz="1400" i="1" dirty="0"/>
                  <a:t>et al.</a:t>
                </a:r>
                <a:r>
                  <a:rPr lang="en-CA" sz="1400" dirty="0"/>
                  <a:t>, &lt;year&gt;]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4AF320-CAAB-CEFE-D483-B0A827F0487C}"/>
                </a:ext>
              </a:extLst>
            </p:cNvPr>
            <p:cNvGrpSpPr/>
            <p:nvPr/>
          </p:nvGrpSpPr>
          <p:grpSpPr>
            <a:xfrm>
              <a:off x="8120520" y="1748062"/>
              <a:ext cx="3510098" cy="3361875"/>
              <a:chOff x="6890389" y="1824313"/>
              <a:chExt cx="3510098" cy="336187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4B32344-A292-C90D-C0D1-E874745AF3CA}"/>
                  </a:ext>
                </a:extLst>
              </p:cNvPr>
              <p:cNvSpPr/>
              <p:nvPr/>
            </p:nvSpPr>
            <p:spPr>
              <a:xfrm>
                <a:off x="7205135" y="1824313"/>
                <a:ext cx="2880606" cy="27771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</a:rPr>
                  <a:t>&lt;image/video&gt;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4EA73D-C240-1854-A686-A70EACABF6A4}"/>
                  </a:ext>
                </a:extLst>
              </p:cNvPr>
              <p:cNvSpPr txBox="1"/>
              <p:nvPr/>
            </p:nvSpPr>
            <p:spPr>
              <a:xfrm>
                <a:off x="6890389" y="4601413"/>
                <a:ext cx="351009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CA" dirty="0"/>
                  <a:t>&lt;Prototype name&gt;</a:t>
                </a:r>
                <a:endParaRPr lang="en-CA" sz="1800" dirty="0"/>
              </a:p>
              <a:p>
                <a:pPr marL="0" indent="0" algn="ctr">
                  <a:buNone/>
                </a:pPr>
                <a:r>
                  <a:rPr lang="en-CA" sz="1400" dirty="0"/>
                  <a:t>[&lt;last name of first author&gt; </a:t>
                </a:r>
                <a:r>
                  <a:rPr lang="en-CA" sz="1400" i="1" dirty="0"/>
                  <a:t>et al.</a:t>
                </a:r>
                <a:r>
                  <a:rPr lang="en-CA" sz="1400" dirty="0"/>
                  <a:t>, &lt;year&gt;]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828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8200-82F4-852C-7EC7-C26EE9BF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3003870D-18F9-F450-3C92-784FA61FCA59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046F498B-243A-2188-CF74-48E05E6920DE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54062-A881-5C0D-1904-1B89D0137C8B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Background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Where is the gap that previous work fail to close? 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753EAA7-A39A-B6E1-342F-E9EA3EDA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6</a:t>
            </a:fld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787C78-97A8-845D-F486-141DE81C9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989089"/>
              </p:ext>
            </p:extLst>
          </p:nvPr>
        </p:nvGraphicFramePr>
        <p:xfrm>
          <a:off x="787666" y="2145900"/>
          <a:ext cx="10616669" cy="2661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15333">
                  <a:extLst>
                    <a:ext uri="{9D8B030D-6E8A-4147-A177-3AD203B41FA5}">
                      <a16:colId xmlns:a16="http://schemas.microsoft.com/office/drawing/2014/main" val="597030959"/>
                    </a:ext>
                  </a:extLst>
                </a:gridCol>
                <a:gridCol w="1326614">
                  <a:extLst>
                    <a:ext uri="{9D8B030D-6E8A-4147-A177-3AD203B41FA5}">
                      <a16:colId xmlns:a16="http://schemas.microsoft.com/office/drawing/2014/main" val="245214778"/>
                    </a:ext>
                  </a:extLst>
                </a:gridCol>
                <a:gridCol w="1309036">
                  <a:extLst>
                    <a:ext uri="{9D8B030D-6E8A-4147-A177-3AD203B41FA5}">
                      <a16:colId xmlns:a16="http://schemas.microsoft.com/office/drawing/2014/main" val="357564552"/>
                    </a:ext>
                  </a:extLst>
                </a:gridCol>
                <a:gridCol w="1337911">
                  <a:extLst>
                    <a:ext uri="{9D8B030D-6E8A-4147-A177-3AD203B41FA5}">
                      <a16:colId xmlns:a16="http://schemas.microsoft.com/office/drawing/2014/main" val="675710242"/>
                    </a:ext>
                  </a:extLst>
                </a:gridCol>
                <a:gridCol w="827775">
                  <a:extLst>
                    <a:ext uri="{9D8B030D-6E8A-4147-A177-3AD203B41FA5}">
                      <a16:colId xmlns:a16="http://schemas.microsoft.com/office/drawing/2014/main" val="2566325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Criteria</a:t>
                      </a:r>
                      <a:r>
                        <a:rPr lang="fr-FR" dirty="0"/>
                        <a:t>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Criteria</a:t>
                      </a:r>
                      <a:r>
                        <a:rPr lang="fr-FR" dirty="0"/>
                        <a:t>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Criteria</a:t>
                      </a:r>
                      <a:r>
                        <a:rPr lang="fr-FR" dirty="0"/>
                        <a:t>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…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7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&lt;Prototype name&gt;</a:t>
                      </a:r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CA" sz="1800" dirty="0">
                          <a:solidFill>
                            <a:schemeClr val="bg1"/>
                          </a:solidFill>
                        </a:rPr>
                        <a:t>[&lt;last name of first author&gt; </a:t>
                      </a:r>
                      <a:r>
                        <a:rPr lang="en-CA" sz="1800" i="1" dirty="0">
                          <a:solidFill>
                            <a:schemeClr val="bg1"/>
                          </a:solidFill>
                        </a:rPr>
                        <a:t>et al.</a:t>
                      </a:r>
                      <a:r>
                        <a:rPr lang="en-CA" sz="1800" dirty="0">
                          <a:solidFill>
                            <a:schemeClr val="bg1"/>
                          </a:solidFill>
                        </a:rPr>
                        <a:t>, &lt;year&gt;]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53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&lt;Prototype name&gt;</a:t>
                      </a:r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CA" sz="1800" dirty="0">
                          <a:solidFill>
                            <a:schemeClr val="bg1"/>
                          </a:solidFill>
                        </a:rPr>
                        <a:t>[&lt;last name of first author&gt; </a:t>
                      </a:r>
                      <a:r>
                        <a:rPr lang="en-CA" sz="1800" i="1" dirty="0">
                          <a:solidFill>
                            <a:schemeClr val="bg1"/>
                          </a:solidFill>
                        </a:rPr>
                        <a:t>et al.</a:t>
                      </a:r>
                      <a:r>
                        <a:rPr lang="en-CA" sz="1800" dirty="0">
                          <a:solidFill>
                            <a:schemeClr val="bg1"/>
                          </a:solidFill>
                        </a:rPr>
                        <a:t>, &lt;year&gt;]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0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&lt;Prototype name&gt;</a:t>
                      </a:r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CA" sz="1800" dirty="0">
                          <a:solidFill>
                            <a:schemeClr val="bg1"/>
                          </a:solidFill>
                        </a:rPr>
                        <a:t>[&lt;last name of first author&gt; </a:t>
                      </a:r>
                      <a:r>
                        <a:rPr lang="en-CA" sz="1800" i="1" dirty="0">
                          <a:solidFill>
                            <a:schemeClr val="bg1"/>
                          </a:solidFill>
                        </a:rPr>
                        <a:t>et al.</a:t>
                      </a:r>
                      <a:r>
                        <a:rPr lang="en-CA" sz="1800" dirty="0">
                          <a:solidFill>
                            <a:schemeClr val="bg1"/>
                          </a:solidFill>
                        </a:rPr>
                        <a:t>, &lt;year&gt;]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2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0551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B1C8486-0499-CB6B-24A8-D4A2726F8AE2}"/>
              </a:ext>
            </a:extLst>
          </p:cNvPr>
          <p:cNvSpPr/>
          <p:nvPr/>
        </p:nvSpPr>
        <p:spPr>
          <a:xfrm>
            <a:off x="7931217" y="2514600"/>
            <a:ext cx="1309036" cy="2245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66A85B-E257-3974-7C10-FE3C419CC352}"/>
              </a:ext>
            </a:extLst>
          </p:cNvPr>
          <p:cNvSpPr txBox="1"/>
          <p:nvPr/>
        </p:nvSpPr>
        <p:spPr>
          <a:xfrm>
            <a:off x="6593306" y="1776884"/>
            <a:ext cx="4811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CA" dirty="0"/>
              <a:t>Comparative Table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75628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0BFB0-42A0-5B4B-9277-8A0F3F7C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73E1580B-98BC-AEFC-8D21-410879D23A1B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584DA01E-FC1F-9FD9-739A-1D799EA0826C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4EC1E-0C70-8F3E-0CE1-57F71A0FCBC9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Proposal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novel concept do you propose to close the gap?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59334F7-59B7-CF8E-84E6-A3466D8F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7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3B1BF-8F0C-BC83-885A-BE46450D67AC}"/>
              </a:ext>
            </a:extLst>
          </p:cNvPr>
          <p:cNvSpPr/>
          <p:nvPr/>
        </p:nvSpPr>
        <p:spPr>
          <a:xfrm>
            <a:off x="165197" y="1049845"/>
            <a:ext cx="5374141" cy="518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&lt;image/video&gt;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71EFF-12F9-62B5-C425-4F5A11362BF6}"/>
              </a:ext>
            </a:extLst>
          </p:cNvPr>
          <p:cNvSpPr txBox="1"/>
          <p:nvPr/>
        </p:nvSpPr>
        <p:spPr>
          <a:xfrm>
            <a:off x="1055552" y="6254429"/>
            <a:ext cx="3593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CA" dirty="0"/>
              <a:t>&lt;Prototype name&gt;</a:t>
            </a:r>
            <a:endParaRPr lang="en-CA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25598-EC0F-33D8-A432-6AD61079B0E9}"/>
              </a:ext>
            </a:extLst>
          </p:cNvPr>
          <p:cNvSpPr txBox="1"/>
          <p:nvPr/>
        </p:nvSpPr>
        <p:spPr>
          <a:xfrm>
            <a:off x="7036742" y="2699339"/>
            <a:ext cx="37731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CA" dirty="0"/>
              <a:t>Explain the novelty of the proposed concept and what inspired it (combination of previous work? </a:t>
            </a:r>
            <a:r>
              <a:rPr lang="en-CA" dirty="0" err="1"/>
              <a:t>Biomimetism</a:t>
            </a:r>
            <a:r>
              <a:rPr lang="en-CA" dirty="0"/>
              <a:t>? etc.).</a:t>
            </a:r>
          </a:p>
        </p:txBody>
      </p:sp>
    </p:spTree>
    <p:extLst>
      <p:ext uri="{BB962C8B-B14F-4D97-AF65-F5344CB8AC3E}">
        <p14:creationId xmlns:p14="http://schemas.microsoft.com/office/powerpoint/2010/main" val="380511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332A-CDA6-3266-AD1F-7071EB2A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C9739096-927F-929B-EA25-0F64FFA04DBD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FE4D95E2-75C3-3489-ECD7-3C722316A2B9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B8DC8-3D58-4ADC-823E-E14887F79FA6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Implementation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How to implement the proof of concept 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E217FB24-D685-3E60-AAF9-949754D8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824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91C4-06A8-6255-6142-6D524A1A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AC97A02C-5529-4D5E-8F23-C1620A562BE4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8BDCB4E4-9F0B-C2E6-B947-8C3FB9F91DF7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E29AB-9F53-7A48-6255-57F5746A107F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Technical Evaluation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are the technical performance of your implementation 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2897C550-422D-D86D-8847-04196188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5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3BA7B-B7B9-F345-8D33-7437EBA7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D4BB6C68-3015-7548-523D-632AD04AE327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2F262202-A1A7-1107-0A5B-F53C1FF337F2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E1F03-55D6-BAD4-0025-4AE291A3011F}"/>
              </a:ext>
            </a:extLst>
          </p:cNvPr>
          <p:cNvSpPr txBox="1"/>
          <p:nvPr/>
        </p:nvSpPr>
        <p:spPr>
          <a:xfrm>
            <a:off x="-305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User study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user experience with your implementation?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D22FC64E-4EF5-21E8-AFA4-027DC71A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10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5A05E-0775-7AD0-1CDD-1B7F252FDBD2}"/>
              </a:ext>
            </a:extLst>
          </p:cNvPr>
          <p:cNvSpPr txBox="1"/>
          <p:nvPr/>
        </p:nvSpPr>
        <p:spPr>
          <a:xfrm>
            <a:off x="1016765" y="1492427"/>
            <a:ext cx="6393756" cy="3539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Expecting answers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are the hypothesis?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apparatus?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participants?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task?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factors?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metrics?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procedure?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32175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476A-E7AD-B1EE-52D7-9CF9A789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D7F6E490-C923-256A-2A5D-51E630280C06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0FBD4DD7-537C-F323-13B9-B9A83A784566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B6AF0-4677-47F5-0AFC-2535059F4CDD}"/>
              </a:ext>
            </a:extLst>
          </p:cNvPr>
          <p:cNvSpPr txBox="1"/>
          <p:nvPr/>
        </p:nvSpPr>
        <p:spPr>
          <a:xfrm>
            <a:off x="-305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User study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user experience with your implementation?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4A3BE1FD-35FE-FC6C-A6C1-539525D9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52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2C118-1EE6-F571-1E8A-BBCB7484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9">
            <a:extLst>
              <a:ext uri="{FF2B5EF4-FFF2-40B4-BE49-F238E27FC236}">
                <a16:creationId xmlns:a16="http://schemas.microsoft.com/office/drawing/2014/main" id="{647F3712-B004-076D-400C-236BBC32F7C5}"/>
              </a:ext>
            </a:extLst>
          </p:cNvPr>
          <p:cNvSpPr txBox="1"/>
          <p:nvPr/>
        </p:nvSpPr>
        <p:spPr>
          <a:xfrm>
            <a:off x="21971102" y="3587442"/>
            <a:ext cx="968892" cy="4001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solidFill>
                  <a:schemeClr val="bg1"/>
                </a:solidFill>
              </a:rPr>
              <a:t>SCALE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7" name="Triangle isocèle 36">
            <a:extLst>
              <a:ext uri="{FF2B5EF4-FFF2-40B4-BE49-F238E27FC236}">
                <a16:creationId xmlns:a16="http://schemas.microsoft.com/office/drawing/2014/main" id="{A055B74D-7570-883B-C88B-831059ED79F0}"/>
              </a:ext>
            </a:extLst>
          </p:cNvPr>
          <p:cNvSpPr/>
          <p:nvPr/>
        </p:nvSpPr>
        <p:spPr>
          <a:xfrm rot="10800000">
            <a:off x="21971102" y="3987552"/>
            <a:ext cx="265670" cy="250728"/>
          </a:xfrm>
          <a:prstGeom prst="triangle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41880-7737-1D90-2A64-D964CA5FC316}"/>
              </a:ext>
            </a:extLst>
          </p:cNvPr>
          <p:cNvSpPr txBox="1"/>
          <p:nvPr/>
        </p:nvSpPr>
        <p:spPr>
          <a:xfrm>
            <a:off x="0" y="0"/>
            <a:ext cx="12181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Motivation</a:t>
            </a:r>
          </a:p>
          <a:p>
            <a:r>
              <a:rPr lang="en-CA" sz="2800" dirty="0">
                <a:effectLst>
                  <a:glow>
                    <a:schemeClr val="tx1"/>
                  </a:glow>
                </a:effectLst>
              </a:rPr>
              <a:t>A short sentence explaining the problem/limitation you are trying to solve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B6C13B50-78F5-7F0D-50DA-5B02110F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8245" y="6511289"/>
            <a:ext cx="2743200" cy="365125"/>
          </a:xfrm>
        </p:spPr>
        <p:txBody>
          <a:bodyPr/>
          <a:lstStyle/>
          <a:p>
            <a:fld id="{EB343DD4-DD05-415C-B51B-81EB21DEF4A4}" type="slidenum">
              <a:rPr lang="en-CA" smtClean="0"/>
              <a:t>12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E0715-67DE-FF57-1F69-B64796152B63}"/>
              </a:ext>
            </a:extLst>
          </p:cNvPr>
          <p:cNvSpPr txBox="1"/>
          <p:nvPr/>
        </p:nvSpPr>
        <p:spPr>
          <a:xfrm>
            <a:off x="2893997" y="2521059"/>
            <a:ext cx="6393756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Expecting answers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context?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problem? </a:t>
            </a:r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does it matter to solve it? </a:t>
            </a:r>
            <a:endParaRPr lang="en-CA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45E58-71E9-726F-A53C-E0153A86C299}"/>
              </a:ext>
            </a:extLst>
          </p:cNvPr>
          <p:cNvSpPr txBox="1"/>
          <p:nvPr/>
        </p:nvSpPr>
        <p:spPr>
          <a:xfrm>
            <a:off x="2772076" y="4695407"/>
            <a:ext cx="6515677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glow>
                    <a:schemeClr val="tx1"/>
                  </a:glow>
                </a:effectLst>
              </a:rPr>
              <a:t>Expecting answers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context?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is the problem? </a:t>
            </a:r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effectLst>
                  <a:glow>
                    <a:schemeClr val="tx1"/>
                  </a:glow>
                </a:effectLst>
              </a:rPr>
              <a:t>What does it matter to solve it? 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70735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459</Words>
  <Application>Microsoft Office PowerPoint</Application>
  <PresentationFormat>Grand écran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DANIEL</dc:creator>
  <cp:lastModifiedBy>Maxime DANIEL</cp:lastModifiedBy>
  <cp:revision>2</cp:revision>
  <dcterms:created xsi:type="dcterms:W3CDTF">2026-10-02T09:15:28Z</dcterms:created>
  <dcterms:modified xsi:type="dcterms:W3CDTF">2026-10-07T09:57:40Z</dcterms:modified>
</cp:coreProperties>
</file>